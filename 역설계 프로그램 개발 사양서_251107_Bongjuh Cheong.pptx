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2" r:id="rId2"/>
    <p:sldId id="263" r:id="rId3"/>
    <p:sldId id="256" r:id="rId4"/>
    <p:sldId id="257" r:id="rId5"/>
    <p:sldId id="258" r:id="rId6"/>
    <p:sldId id="259" r:id="rId7"/>
    <p:sldId id="260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2" r:id="rId17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9F4D1-E652-43D2-9A2C-442B566153B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AE69BF-3F55-4ACA-BAE7-0CAA6BBFA2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650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E69BF-3F55-4ACA-BAE7-0CAA6BBFA29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371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3E78-5727-4556-828D-17D6F784F30E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59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80B8-7097-4307-B945-62B2E18CBD18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46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39C0-F8DB-4E44-B668-1C3AF3B09A53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10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597C-2162-45BE-B9C4-98569964C43A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675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8B06D-54AC-41D1-8D4A-B7FE7012B95D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847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228A-3750-4197-BC50-C14161E0D34A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070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0762-697D-4459-8DD2-3C674D2E6FE8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673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3173-CE9C-4280-BE91-928E836FADE4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704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235B-FFA0-466C-AFDD-6A03D5103D87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85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946C4-FEB9-4706-B784-BC79F2A30489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093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48B7-A56A-49AB-99C1-49B84F8EFF26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63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94608-A5A2-4888-8BAD-763D3BD07983}" type="datetime1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AFE50-C9B8-49C0-82E5-6EA850373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89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스프링 형상 측정 프로그램 개발 요구사양서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b="1" dirty="0"/>
              <a:t>25.10.17</a:t>
            </a:r>
            <a:endParaRPr lang="ko-KR" altLang="en-US" b="1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750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932" y="535021"/>
            <a:ext cx="110973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/>
              <a:t>개발 배경</a:t>
            </a:r>
            <a:r>
              <a:rPr lang="ko-KR" altLang="en-US"/>
              <a:t> </a:t>
            </a:r>
            <a:r>
              <a:rPr lang="en-US" altLang="ko-KR" dirty="0"/>
              <a:t>: </a:t>
            </a:r>
            <a:r>
              <a:rPr lang="ko-KR" altLang="en-US"/>
              <a:t>스프링의 </a:t>
            </a:r>
            <a:r>
              <a:rPr lang="ko-KR" altLang="en-US" dirty="0"/>
              <a:t>형상을 측정하는 절차는 수작업과 상용 프로그램을 사용하고 있어</a:t>
            </a:r>
            <a:r>
              <a:rPr lang="en-US" altLang="ko-KR" dirty="0"/>
              <a:t>, </a:t>
            </a:r>
            <a:r>
              <a:rPr lang="ko-KR" altLang="en-US"/>
              <a:t>소요시간이 길고 번거로움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/>
              <a:t>기존</a:t>
            </a:r>
            <a:r>
              <a:rPr lang="en-US" altLang="ko-KR" dirty="0"/>
              <a:t>) </a:t>
            </a:r>
            <a:r>
              <a:rPr lang="ko-KR" altLang="en-US"/>
              <a:t>스프링 스캐닝</a:t>
            </a:r>
            <a:r>
              <a:rPr lang="en-US" altLang="ko-KR" dirty="0"/>
              <a:t>(3D </a:t>
            </a:r>
            <a:r>
              <a:rPr lang="ko-KR" altLang="en-US"/>
              <a:t>스캐너</a:t>
            </a:r>
            <a:r>
              <a:rPr lang="en-US" altLang="ko-KR" dirty="0"/>
              <a:t>)</a:t>
            </a:r>
            <a:r>
              <a:rPr lang="ko-KR" altLang="en-US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스프링 단면 중심 포인트 추출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>
                <a:sym typeface="Wingdings" panose="05000000000000000000" pitchFamily="2" charset="2"/>
              </a:rPr>
              <a:t>스캐너 제공 프로그램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igs</a:t>
            </a:r>
            <a:r>
              <a:rPr lang="en-US" altLang="ko-KR" dirty="0">
                <a:sym typeface="Wingdings" panose="05000000000000000000" pitchFamily="2" charset="2"/>
              </a:rPr>
              <a:t>)  </a:t>
            </a:r>
            <a:r>
              <a:rPr lang="ko-KR" altLang="en-US">
                <a:sym typeface="Wingdings" panose="05000000000000000000" pitchFamily="2" charset="2"/>
              </a:rPr>
              <a:t>스플라인 곡선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Catia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stp</a:t>
            </a:r>
            <a:r>
              <a:rPr lang="en-US" altLang="ko-KR" dirty="0">
                <a:sym typeface="Wingdings" panose="05000000000000000000" pitchFamily="2" charset="2"/>
              </a:rPr>
              <a:t>))  1000</a:t>
            </a:r>
            <a:r>
              <a:rPr lang="ko-KR" altLang="en-US">
                <a:sym typeface="Wingdings" panose="05000000000000000000" pitchFamily="2" charset="2"/>
              </a:rPr>
              <a:t>개 포인트 생성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Hymermesh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좌표계 변환</a:t>
            </a:r>
            <a:r>
              <a:rPr lang="en-US" altLang="ko-KR" dirty="0">
                <a:sym typeface="Wingdings" panose="05000000000000000000" pitchFamily="2" charset="2"/>
              </a:rPr>
              <a:t>)  </a:t>
            </a:r>
            <a:r>
              <a:rPr lang="ko-KR" altLang="en-US">
                <a:sym typeface="Wingdings" panose="05000000000000000000" pitchFamily="2" charset="2"/>
              </a:rPr>
              <a:t>엑셀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>
                <a:sym typeface="Wingdings" panose="05000000000000000000" pitchFamily="2" charset="2"/>
              </a:rPr>
              <a:t>수식이 걸려있는 엑셀에 붙여넣기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/>
              <a:t>개발 목표</a:t>
            </a:r>
            <a:endParaRPr lang="en-US" altLang="ko-KR" b="1" dirty="0"/>
          </a:p>
          <a:p>
            <a:r>
              <a:rPr lang="en-US" altLang="ko-KR" dirty="0"/>
              <a:t>(</a:t>
            </a:r>
            <a:r>
              <a:rPr lang="ko-KR" altLang="en-US"/>
              <a:t>신규</a:t>
            </a:r>
            <a:r>
              <a:rPr lang="en-US" altLang="ko-KR" dirty="0"/>
              <a:t>) </a:t>
            </a:r>
            <a:r>
              <a:rPr lang="ko-KR" altLang="en-US"/>
              <a:t>스프링 스캐닝</a:t>
            </a:r>
            <a:r>
              <a:rPr lang="en-US" altLang="ko-KR" dirty="0"/>
              <a:t>(3D </a:t>
            </a:r>
            <a:r>
              <a:rPr lang="ko-KR" altLang="en-US"/>
              <a:t>스캐너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스프링 단면 중심 포인트 추출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>
                <a:sym typeface="Wingdings" panose="05000000000000000000" pitchFamily="2" charset="2"/>
              </a:rPr>
              <a:t>스캐너 제공 프로그램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igs</a:t>
            </a:r>
            <a:r>
              <a:rPr lang="en-US" altLang="ko-KR" dirty="0">
                <a:sym typeface="Wingdings" panose="05000000000000000000" pitchFamily="2" charset="2"/>
              </a:rPr>
              <a:t>)  </a:t>
            </a:r>
            <a:r>
              <a:rPr lang="ko-KR" altLang="en-US" b="1">
                <a:solidFill>
                  <a:srgbClr val="FF0000"/>
                </a:solidFill>
                <a:sym typeface="Wingdings" panose="05000000000000000000" pitchFamily="2" charset="2"/>
              </a:rPr>
              <a:t>변환 프로그램</a:t>
            </a:r>
            <a:endParaRPr lang="en-US" altLang="ko-KR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b="1" dirty="0">
                <a:sym typeface="Wingdings" panose="05000000000000000000" pitchFamily="2" charset="2"/>
              </a:rPr>
              <a:t>3. </a:t>
            </a:r>
            <a:r>
              <a:rPr lang="ko-KR" altLang="en-US" b="1">
                <a:sym typeface="Wingdings" panose="05000000000000000000" pitchFamily="2" charset="2"/>
              </a:rPr>
              <a:t>산출물</a:t>
            </a:r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개발결과 보고서</a:t>
            </a:r>
            <a:r>
              <a:rPr lang="en-US" altLang="ko-KR" dirty="0">
                <a:sym typeface="Wingdings" panose="05000000000000000000" pitchFamily="2" charset="2"/>
              </a:rPr>
              <a:t>(PPT, </a:t>
            </a:r>
            <a:r>
              <a:rPr lang="ko-KR" altLang="en-US">
                <a:sym typeface="Wingdings" panose="05000000000000000000" pitchFamily="2" charset="2"/>
              </a:rPr>
              <a:t>자유양식</a:t>
            </a:r>
            <a:r>
              <a:rPr lang="en-US" altLang="ko-KR" dirty="0">
                <a:sym typeface="Wingdings" panose="05000000000000000000" pitchFamily="2" charset="2"/>
              </a:rPr>
              <a:t>), </a:t>
            </a:r>
            <a:r>
              <a:rPr lang="ko-KR" altLang="en-US">
                <a:sym typeface="Wingdings" panose="05000000000000000000" pitchFamily="2" charset="2"/>
              </a:rPr>
              <a:t>파이썬 프로그램 소스파일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프로그램 설치 방법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포함 사용자 메뉴얼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b="1" dirty="0">
                <a:sym typeface="Wingdings" panose="05000000000000000000" pitchFamily="2" charset="2"/>
              </a:rPr>
              <a:t>4. </a:t>
            </a:r>
            <a:r>
              <a:rPr lang="ko-KR" altLang="en-US" b="1">
                <a:sym typeface="Wingdings" panose="05000000000000000000" pitchFamily="2" charset="2"/>
              </a:rPr>
              <a:t>기간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>
                <a:sym typeface="Wingdings" panose="05000000000000000000" pitchFamily="2" charset="2"/>
              </a:rPr>
              <a:t>약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>
                <a:sym typeface="Wingdings" panose="05000000000000000000" pitchFamily="2" charset="2"/>
              </a:rPr>
              <a:t>주일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b="1" dirty="0">
                <a:sym typeface="Wingdings" panose="05000000000000000000" pitchFamily="2" charset="2"/>
              </a:rPr>
              <a:t>5. </a:t>
            </a:r>
            <a:r>
              <a:rPr lang="ko-KR" altLang="en-US" b="1">
                <a:sym typeface="Wingdings" panose="05000000000000000000" pitchFamily="2" charset="2"/>
              </a:rPr>
              <a:t>비용</a:t>
            </a:r>
            <a:r>
              <a:rPr lang="ko-KR" altLang="en-US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 100</a:t>
            </a:r>
            <a:r>
              <a:rPr lang="ko-KR" altLang="en-US">
                <a:sym typeface="Wingdings" panose="05000000000000000000" pitchFamily="2" charset="2"/>
              </a:rPr>
              <a:t>만원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>
                <a:sym typeface="Wingdings" panose="05000000000000000000" pitchFamily="2" charset="2"/>
              </a:rPr>
              <a:t>업무 범위에 따라 협의 가능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55630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2900" y="473529"/>
            <a:ext cx="10758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스프링을 스캐닝 후 스프링 단면의 중심점을 추출하여 </a:t>
            </a:r>
            <a:r>
              <a:rPr lang="en-US" altLang="ko-KR" dirty="0" err="1"/>
              <a:t>igs</a:t>
            </a:r>
            <a:r>
              <a:rPr lang="en-US" altLang="ko-KR" dirty="0"/>
              <a:t> </a:t>
            </a:r>
            <a:r>
              <a:rPr lang="ko-KR" altLang="en-US" dirty="0"/>
              <a:t>파일로 저장</a:t>
            </a:r>
            <a:r>
              <a:rPr lang="en-US" altLang="ko-KR" dirty="0"/>
              <a:t> (TK1_FRT_zero-1_251014.igs)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35290"/>
          <a:stretch/>
        </p:blipFill>
        <p:spPr>
          <a:xfrm>
            <a:off x="428625" y="961889"/>
            <a:ext cx="9010650" cy="311263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4687693"/>
            <a:ext cx="9182100" cy="1409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89516" y="419644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>
                <a:solidFill>
                  <a:srgbClr val="FF0000"/>
                </a:solidFill>
              </a:rPr>
              <a:t>중략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25000" y="1747157"/>
            <a:ext cx="23407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igs</a:t>
            </a:r>
            <a:r>
              <a:rPr lang="en-US" altLang="ko-KR" dirty="0"/>
              <a:t> </a:t>
            </a:r>
            <a:r>
              <a:rPr lang="ko-KR" altLang="en-US"/>
              <a:t>파일의 총 라인은</a:t>
            </a:r>
            <a:endParaRPr lang="en-US" altLang="ko-KR" dirty="0"/>
          </a:p>
          <a:p>
            <a:r>
              <a:rPr lang="ko-KR" altLang="en-US" dirty="0"/>
              <a:t>달라질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igs</a:t>
            </a:r>
            <a:r>
              <a:rPr lang="en-US" altLang="ko-KR" dirty="0"/>
              <a:t> </a:t>
            </a:r>
            <a:r>
              <a:rPr lang="ko-KR" altLang="en-US"/>
              <a:t>파일의 정보를</a:t>
            </a:r>
            <a:endParaRPr lang="en-US" altLang="ko-KR" dirty="0"/>
          </a:p>
          <a:p>
            <a:r>
              <a:rPr lang="ko-KR" altLang="en-US" dirty="0"/>
              <a:t>읽어 들여야 한다</a:t>
            </a:r>
            <a:r>
              <a:rPr lang="en-US" altLang="ko-KR" dirty="0"/>
              <a:t>.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569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8" y="1349924"/>
            <a:ext cx="5491163" cy="490255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24" y="1144110"/>
            <a:ext cx="2623966" cy="18002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958" y="5185285"/>
            <a:ext cx="3260951" cy="143669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914900" y="1366253"/>
            <a:ext cx="440871" cy="3809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495119" y="3485541"/>
            <a:ext cx="440871" cy="3809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495119" y="5713180"/>
            <a:ext cx="991281" cy="42636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524" y="3308374"/>
            <a:ext cx="2038350" cy="1362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2900" y="260904"/>
            <a:ext cx="11561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en-US" altLang="ko-KR" dirty="0" err="1"/>
              <a:t>iges</a:t>
            </a:r>
            <a:r>
              <a:rPr lang="en-US" altLang="ko-KR" dirty="0"/>
              <a:t> </a:t>
            </a:r>
            <a:r>
              <a:rPr lang="ko-KR" altLang="en-US"/>
              <a:t>파일 문제점을 해결하기 위한 </a:t>
            </a:r>
            <a:r>
              <a:rPr lang="ko-KR" altLang="en-US" b="1" u="sng">
                <a:solidFill>
                  <a:srgbClr val="FF0000"/>
                </a:solidFill>
              </a:rPr>
              <a:t>보정</a:t>
            </a:r>
            <a:r>
              <a:rPr lang="ko-KR" altLang="en-US"/>
              <a:t>이 필요하다</a:t>
            </a:r>
            <a:r>
              <a:rPr lang="en-US" altLang="ko-KR" dirty="0"/>
              <a:t>.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강도가 큰 </a:t>
            </a:r>
            <a:r>
              <a:rPr lang="ko-KR" altLang="en-US" dirty="0" err="1"/>
              <a:t>직선재를</a:t>
            </a:r>
            <a:r>
              <a:rPr lang="ko-KR" altLang="en-US" dirty="0"/>
              <a:t> </a:t>
            </a:r>
            <a:r>
              <a:rPr lang="ko-KR" altLang="en-US" dirty="0" err="1"/>
              <a:t>벤딩으로</a:t>
            </a:r>
            <a:r>
              <a:rPr lang="ko-KR" altLang="en-US" dirty="0"/>
              <a:t> 만들었기 때문에 특정한 곡률 범위</a:t>
            </a:r>
            <a:r>
              <a:rPr lang="en-US" altLang="ko-KR" dirty="0"/>
              <a:t>, </a:t>
            </a:r>
            <a:r>
              <a:rPr lang="ko-KR" altLang="en-US"/>
              <a:t>또는 곡률반경이 존재함 </a:t>
            </a:r>
            <a:r>
              <a:rPr lang="en-US" altLang="ko-KR" dirty="0"/>
              <a:t>(3</a:t>
            </a:r>
            <a:r>
              <a:rPr lang="ko-KR" altLang="en-US"/>
              <a:t>차원 공간 곡률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반경 뿐만 아니라 피치의 변화도 부드러워야 한다</a:t>
            </a:r>
            <a:r>
              <a:rPr lang="en-US" altLang="ko-KR" dirty="0"/>
              <a:t>.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곡률에 대한 범위는 알려주고 상의 가능</a:t>
            </a:r>
            <a:endParaRPr lang="en-US" altLang="ko-KR" dirty="0"/>
          </a:p>
        </p:txBody>
      </p:sp>
      <p:sp>
        <p:nvSpPr>
          <p:cNvPr id="12" name="TextBox 11"/>
          <p:cNvSpPr txBox="1"/>
          <p:nvPr/>
        </p:nvSpPr>
        <p:spPr>
          <a:xfrm>
            <a:off x="8969828" y="1744007"/>
            <a:ext cx="3048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그림 </a:t>
            </a:r>
            <a:r>
              <a:rPr lang="en-US" altLang="ko-KR" dirty="0"/>
              <a:t>2 </a:t>
            </a:r>
            <a:r>
              <a:rPr lang="ko-KR" altLang="en-US"/>
              <a:t>끝단이 매끄럽지 못하고 구부러져 </a:t>
            </a:r>
            <a:r>
              <a:rPr lang="ko-KR" altLang="en-US" dirty="0"/>
              <a:t>있다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/>
              <a:t>실제 제품은 곡선 않음</a:t>
            </a:r>
            <a:r>
              <a:rPr lang="en-US" altLang="ko-KR" dirty="0"/>
              <a:t>)</a:t>
            </a:r>
          </a:p>
          <a:p>
            <a:r>
              <a:rPr lang="ko-KR" altLang="en-US" dirty="0" err="1"/>
              <a:t>끝단이</a:t>
            </a:r>
            <a:r>
              <a:rPr lang="ko-KR" altLang="en-US" dirty="0"/>
              <a:t> 짧다 </a:t>
            </a:r>
            <a:r>
              <a:rPr lang="en-US" altLang="ko-KR" dirty="0"/>
              <a:t>(</a:t>
            </a:r>
            <a:r>
              <a:rPr lang="ko-KR" altLang="en-US"/>
              <a:t>연장</a:t>
            </a:r>
            <a:r>
              <a:rPr lang="en-US" altLang="ko-KR" dirty="0"/>
              <a:t>)</a:t>
            </a:r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6731726" y="3762103"/>
            <a:ext cx="1001485" cy="104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6810103" y="3866446"/>
            <a:ext cx="923108" cy="205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V="1">
            <a:off x="7271657" y="3879233"/>
            <a:ext cx="461554" cy="31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47314" y="3543093"/>
            <a:ext cx="3512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 </a:t>
            </a:r>
            <a:r>
              <a:rPr lang="en-US" altLang="ko-KR" dirty="0"/>
              <a:t>3. </a:t>
            </a:r>
            <a:r>
              <a:rPr lang="ko-KR" altLang="en-US" dirty="0"/>
              <a:t>중심점의 위치가 같아야</a:t>
            </a:r>
            <a:endParaRPr lang="en-US" altLang="ko-KR" dirty="0"/>
          </a:p>
          <a:p>
            <a:r>
              <a:rPr lang="ko-KR" altLang="en-US" dirty="0"/>
              <a:t>하는 구간에서 약간 차이가 있다</a:t>
            </a:r>
            <a:endParaRPr lang="en-US" altLang="ko-KR" dirty="0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8771468" y="5586059"/>
            <a:ext cx="233499" cy="7810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7293360" y="1449346"/>
            <a:ext cx="364587" cy="123551"/>
          </a:xfrm>
          <a:prstGeom prst="straightConnector1">
            <a:avLst/>
          </a:prstGeom>
          <a:ln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3999" y="6139543"/>
            <a:ext cx="304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그림 </a:t>
            </a:r>
            <a:r>
              <a:rPr lang="en-US" altLang="ko-KR" dirty="0"/>
              <a:t>4 </a:t>
            </a:r>
            <a:r>
              <a:rPr lang="ko-KR" altLang="en-US" dirty="0"/>
              <a:t>끝단이 짧다 </a:t>
            </a:r>
            <a:r>
              <a:rPr lang="en-US" altLang="ko-KR" dirty="0"/>
              <a:t>(</a:t>
            </a:r>
            <a:r>
              <a:rPr lang="ko-KR" altLang="en-US" dirty="0"/>
              <a:t>연장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64435" y="5738103"/>
            <a:ext cx="3048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그림 </a:t>
            </a:r>
            <a:r>
              <a:rPr lang="en-US" altLang="ko-KR" dirty="0"/>
              <a:t>1 </a:t>
            </a:r>
            <a:r>
              <a:rPr lang="en-US" altLang="ko-KR" dirty="0" err="1"/>
              <a:t>iges</a:t>
            </a:r>
            <a:r>
              <a:rPr lang="ko-KR" altLang="en-US"/>
              <a:t>파일을 캐드 프로그램에서 열어본 경우</a:t>
            </a:r>
            <a:r>
              <a:rPr lang="en-US" altLang="ko-KR" dirty="0"/>
              <a:t>.</a:t>
            </a:r>
            <a:endParaRPr lang="ko-KR" altLang="en-US"/>
          </a:p>
        </p:txBody>
      </p:sp>
      <p:sp>
        <p:nvSpPr>
          <p:cNvPr id="28" name="원호 27"/>
          <p:cNvSpPr/>
          <p:nvPr/>
        </p:nvSpPr>
        <p:spPr>
          <a:xfrm rot="546935">
            <a:off x="6688635" y="1626719"/>
            <a:ext cx="2127250" cy="246184"/>
          </a:xfrm>
          <a:prstGeom prst="arc">
            <a:avLst>
              <a:gd name="adj1" fmla="val 16200000"/>
              <a:gd name="adj2" fmla="val 2139295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201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6" y="4368312"/>
            <a:ext cx="11849101" cy="12176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2900" y="260904"/>
            <a:ext cx="113575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좌표변환 </a:t>
            </a:r>
            <a:r>
              <a:rPr lang="en-US" altLang="ko-KR" dirty="0"/>
              <a:t>(xyz </a:t>
            </a:r>
            <a:r>
              <a:rPr lang="en-US" altLang="ko-KR" dirty="0">
                <a:sym typeface="Wingdings" panose="05000000000000000000" pitchFamily="2" charset="2"/>
              </a:rPr>
              <a:t> r</a:t>
            </a:r>
            <a:r>
              <a:rPr lang="el-GR" altLang="ko-KR" dirty="0"/>
              <a:t>θ</a:t>
            </a:r>
            <a:r>
              <a:rPr lang="en-US" altLang="ko-KR" dirty="0">
                <a:sym typeface="Wingdings" panose="05000000000000000000" pitchFamily="2" charset="2"/>
              </a:rPr>
              <a:t>z)</a:t>
            </a:r>
          </a:p>
          <a:p>
            <a:pPr marL="285750" indent="-285750">
              <a:buFontTx/>
              <a:buChar char="-"/>
            </a:pPr>
            <a:r>
              <a:rPr lang="ko-KR" altLang="en-US" dirty="0" err="1">
                <a:sym typeface="Wingdings" panose="05000000000000000000" pitchFamily="2" charset="2"/>
              </a:rPr>
              <a:t>직교좌표계로</a:t>
            </a:r>
            <a:r>
              <a:rPr lang="ko-KR" altLang="en-US" dirty="0">
                <a:sym typeface="Wingdings" panose="05000000000000000000" pitchFamily="2" charset="2"/>
              </a:rPr>
              <a:t> 구성된 포인트를 </a:t>
            </a:r>
            <a:r>
              <a:rPr lang="ko-KR" altLang="en-US" dirty="0" err="1">
                <a:sym typeface="Wingdings" panose="05000000000000000000" pitchFamily="2" charset="2"/>
              </a:rPr>
              <a:t>원통좌표계로</a:t>
            </a:r>
            <a:r>
              <a:rPr lang="ko-KR" altLang="en-US" dirty="0">
                <a:sym typeface="Wingdings" panose="05000000000000000000" pitchFamily="2" charset="2"/>
              </a:rPr>
              <a:t> 변환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Catia</a:t>
            </a:r>
            <a:r>
              <a:rPr lang="en-US" altLang="ko-KR" dirty="0">
                <a:sym typeface="Wingdings" panose="05000000000000000000" pitchFamily="2" charset="2"/>
              </a:rPr>
              <a:t>  </a:t>
            </a:r>
            <a:r>
              <a:rPr lang="en-US" altLang="ko-KR" dirty="0" err="1">
                <a:sym typeface="Wingdings" panose="05000000000000000000" pitchFamily="2" charset="2"/>
              </a:rPr>
              <a:t>Hypermesh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ym typeface="Wingdings" panose="05000000000000000000" pitchFamily="2" charset="2"/>
              </a:rPr>
              <a:t>스프링 상단과 하단의 중심선을 이은 직선을 </a:t>
            </a:r>
            <a:r>
              <a:rPr lang="en-US" altLang="ko-KR" dirty="0">
                <a:sym typeface="Wingdings" panose="05000000000000000000" pitchFamily="2" charset="2"/>
              </a:rPr>
              <a:t>z</a:t>
            </a:r>
            <a:r>
              <a:rPr lang="ko-KR" altLang="en-US" dirty="0">
                <a:sym typeface="Wingdings" panose="05000000000000000000" pitchFamily="2" charset="2"/>
              </a:rPr>
              <a:t>축으로 하고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상단 또는 하단의 센터점에 좌표계 원점 위치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altLang="ko-KR" dirty="0" err="1">
                <a:sym typeface="Wingdings" panose="05000000000000000000" pitchFamily="2" charset="2"/>
              </a:rPr>
              <a:t>igs</a:t>
            </a:r>
            <a:r>
              <a:rPr lang="ko-KR" altLang="en-US" dirty="0">
                <a:sym typeface="Wingdings" panose="05000000000000000000" pitchFamily="2" charset="2"/>
              </a:rPr>
              <a:t>파일은 </a:t>
            </a:r>
            <a:r>
              <a:rPr lang="en-US" altLang="ko-KR" dirty="0">
                <a:sym typeface="Wingdings" panose="05000000000000000000" pitchFamily="2" charset="2"/>
              </a:rPr>
              <a:t>point </a:t>
            </a:r>
            <a:r>
              <a:rPr lang="ko-KR" altLang="en-US" dirty="0">
                <a:sym typeface="Wingdings" panose="05000000000000000000" pitchFamily="2" charset="2"/>
              </a:rPr>
              <a:t>데이터로 되어 있을 것으로 예상되며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해당 파일의 포인트들을 이용하여 보정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좌표변환이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   </a:t>
            </a:r>
            <a:r>
              <a:rPr lang="ko-KR" altLang="en-US" dirty="0">
                <a:sym typeface="Wingdings" panose="05000000000000000000" pitchFamily="2" charset="2"/>
              </a:rPr>
              <a:t>가능할 것으로 생각됨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25" name="슬라이드 번호 개체 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7" name="오른쪽 중괄호 26"/>
          <p:cNvSpPr/>
          <p:nvPr/>
        </p:nvSpPr>
        <p:spPr>
          <a:xfrm rot="5400000">
            <a:off x="1370511" y="5071559"/>
            <a:ext cx="241300" cy="13639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오른쪽 중괄호 27"/>
          <p:cNvSpPr/>
          <p:nvPr/>
        </p:nvSpPr>
        <p:spPr>
          <a:xfrm rot="5400000">
            <a:off x="2810691" y="5071559"/>
            <a:ext cx="241300" cy="13639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중괄호 28"/>
          <p:cNvSpPr/>
          <p:nvPr/>
        </p:nvSpPr>
        <p:spPr>
          <a:xfrm rot="5400000">
            <a:off x="9146041" y="3000143"/>
            <a:ext cx="241300" cy="55068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중괄호 29"/>
          <p:cNvSpPr/>
          <p:nvPr/>
        </p:nvSpPr>
        <p:spPr>
          <a:xfrm rot="5400000">
            <a:off x="4998175" y="4787985"/>
            <a:ext cx="241300" cy="19311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909110" y="5921092"/>
            <a:ext cx="1164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xyz </a:t>
            </a:r>
            <a:r>
              <a:rPr lang="ko-KR" altLang="en-US" sz="1600"/>
              <a:t>좌표계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49290" y="5921092"/>
            <a:ext cx="1162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r</a:t>
            </a:r>
            <a:r>
              <a:rPr lang="el-GR" altLang="ko-KR" sz="1600" dirty="0">
                <a:ea typeface="맑은 고딕" panose="020B0503020000020004" pitchFamily="50" charset="-127"/>
              </a:rPr>
              <a:t>θ</a:t>
            </a:r>
            <a:r>
              <a:rPr lang="en-US" altLang="ko-KR" sz="1600" dirty="0">
                <a:ea typeface="맑은 고딕" panose="020B0503020000020004" pitchFamily="50" charset="-127"/>
              </a:rPr>
              <a:t>z</a:t>
            </a:r>
            <a:r>
              <a:rPr lang="en-US" altLang="ko-KR" sz="1600" dirty="0"/>
              <a:t> </a:t>
            </a:r>
            <a:r>
              <a:rPr lang="ko-KR" altLang="en-US" sz="1600"/>
              <a:t>좌표계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7576" y="5921092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임시 변수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1572" y="5921092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필요한 치수</a:t>
            </a:r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60" t="19600" r="38949" b="56742"/>
          <a:stretch/>
        </p:blipFill>
        <p:spPr bwMode="auto">
          <a:xfrm>
            <a:off x="2304086" y="1811320"/>
            <a:ext cx="17907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6" name="그룹 55"/>
          <p:cNvGrpSpPr/>
          <p:nvPr/>
        </p:nvGrpSpPr>
        <p:grpSpPr>
          <a:xfrm>
            <a:off x="7861300" y="1773900"/>
            <a:ext cx="3492500" cy="1982788"/>
            <a:chOff x="4025900" y="4430712"/>
            <a:chExt cx="3492500" cy="1982788"/>
          </a:xfrm>
        </p:grpSpPr>
        <p:pic>
          <p:nvPicPr>
            <p:cNvPr id="3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551" t="19601" r="41532" b="66766"/>
            <a:stretch/>
          </p:blipFill>
          <p:spPr bwMode="auto">
            <a:xfrm>
              <a:off x="4025900" y="4430712"/>
              <a:ext cx="3492500" cy="1982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TextBox 36"/>
            <p:cNvSpPr txBox="1"/>
            <p:nvPr/>
          </p:nvSpPr>
          <p:spPr>
            <a:xfrm>
              <a:off x="5307191" y="5987018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A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36839" y="5399119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B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910438" y="4585779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C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4" name="타원 43"/>
            <p:cNvSpPr/>
            <p:nvPr/>
          </p:nvSpPr>
          <p:spPr>
            <a:xfrm>
              <a:off x="5682536" y="5479510"/>
              <a:ext cx="122463" cy="1219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화살표 연결선 44"/>
            <p:cNvCxnSpPr/>
            <p:nvPr/>
          </p:nvCxnSpPr>
          <p:spPr>
            <a:xfrm flipH="1">
              <a:off x="5231260" y="5524293"/>
              <a:ext cx="530741" cy="74402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/>
            <p:cNvCxnSpPr/>
            <p:nvPr/>
          </p:nvCxnSpPr>
          <p:spPr>
            <a:xfrm flipH="1" flipV="1">
              <a:off x="4521200" y="5117052"/>
              <a:ext cx="1240802" cy="423438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/>
            <p:nvPr/>
          </p:nvCxnSpPr>
          <p:spPr>
            <a:xfrm>
              <a:off x="5762001" y="5524293"/>
              <a:ext cx="0" cy="647391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21" t="74329" r="44785" b="9517"/>
          <a:stretch/>
        </p:blipFill>
        <p:spPr bwMode="auto">
          <a:xfrm>
            <a:off x="2253675" y="3251183"/>
            <a:ext cx="15367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09" t="19205" r="39400" b="10636"/>
          <a:stretch/>
        </p:blipFill>
        <p:spPr bwMode="auto">
          <a:xfrm>
            <a:off x="665663" y="1741582"/>
            <a:ext cx="1389846" cy="2436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3" name="직선 화살표 연결선 42"/>
          <p:cNvCxnSpPr/>
          <p:nvPr/>
        </p:nvCxnSpPr>
        <p:spPr>
          <a:xfrm flipH="1">
            <a:off x="3022025" y="2197313"/>
            <a:ext cx="250679" cy="15396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 flipH="1">
            <a:off x="1244649" y="2004986"/>
            <a:ext cx="293675" cy="19821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오른쪽 화살표 59"/>
          <p:cNvSpPr/>
          <p:nvPr/>
        </p:nvSpPr>
        <p:spPr>
          <a:xfrm>
            <a:off x="2055509" y="5952045"/>
            <a:ext cx="293781" cy="288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오른쪽 화살표 60"/>
          <p:cNvSpPr/>
          <p:nvPr/>
        </p:nvSpPr>
        <p:spPr>
          <a:xfrm>
            <a:off x="3945170" y="5952045"/>
            <a:ext cx="293781" cy="288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오른쪽 화살표 61"/>
          <p:cNvSpPr/>
          <p:nvPr/>
        </p:nvSpPr>
        <p:spPr>
          <a:xfrm>
            <a:off x="7172023" y="5952045"/>
            <a:ext cx="293781" cy="288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7587760" y="3880911"/>
            <a:ext cx="386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 </a:t>
            </a:r>
            <a:r>
              <a:rPr lang="en-US" altLang="ko-KR" dirty="0"/>
              <a:t>2. </a:t>
            </a:r>
            <a:r>
              <a:rPr lang="en-US" altLang="ko-KR" dirty="0">
                <a:sym typeface="Wingdings" panose="05000000000000000000" pitchFamily="2" charset="2"/>
              </a:rPr>
              <a:t>r</a:t>
            </a:r>
            <a:r>
              <a:rPr lang="el-GR" altLang="ko-KR" dirty="0"/>
              <a:t>θ</a:t>
            </a:r>
            <a:r>
              <a:rPr lang="en-US" altLang="ko-KR" dirty="0">
                <a:sym typeface="Wingdings" panose="05000000000000000000" pitchFamily="2" charset="2"/>
              </a:rPr>
              <a:t>z </a:t>
            </a:r>
            <a:r>
              <a:rPr lang="ko-KR" altLang="en-US">
                <a:sym typeface="Wingdings" panose="05000000000000000000" pitchFamily="2" charset="2"/>
              </a:rPr>
              <a:t>좌표계 생성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>
                <a:sym typeface="Wingdings" panose="05000000000000000000" pitchFamily="2" charset="2"/>
              </a:rPr>
              <a:t>상단 기준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3266948" y="230463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A1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701310" y="2043062"/>
            <a:ext cx="343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B1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266948" y="1882837"/>
            <a:ext cx="3513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C1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174877" y="336798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A2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481696" y="3451902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B2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524018" y="388736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C2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838003" y="3459006"/>
            <a:ext cx="2632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 </a:t>
            </a:r>
            <a:r>
              <a:rPr lang="en-US" altLang="ko-KR" dirty="0"/>
              <a:t>1. </a:t>
            </a:r>
            <a:r>
              <a:rPr lang="en-US" altLang="ko-KR" dirty="0">
                <a:sym typeface="Wingdings" panose="05000000000000000000" pitchFamily="2" charset="2"/>
              </a:rPr>
              <a:t>r</a:t>
            </a:r>
            <a:r>
              <a:rPr lang="el-GR" altLang="ko-KR" dirty="0"/>
              <a:t>θ</a:t>
            </a:r>
            <a:r>
              <a:rPr lang="en-US" altLang="ko-KR" dirty="0">
                <a:sym typeface="Wingdings" panose="05000000000000000000" pitchFamily="2" charset="2"/>
              </a:rPr>
              <a:t>z </a:t>
            </a:r>
            <a:r>
              <a:rPr lang="ko-KR" altLang="en-US">
                <a:sym typeface="Wingdings" panose="05000000000000000000" pitchFamily="2" charset="2"/>
              </a:rPr>
              <a:t>좌표계 생성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>
                <a:sym typeface="Wingdings" panose="05000000000000000000" pitchFamily="2" charset="2"/>
              </a:rPr>
              <a:t>상단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>
                <a:sym typeface="Wingdings" panose="05000000000000000000" pitchFamily="2" charset="2"/>
              </a:rPr>
              <a:t>하단 센터점 생성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9135763" y="2984489"/>
            <a:ext cx="26642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r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028393" y="2418468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l-GR" altLang="ko-KR" dirty="0">
                <a:solidFill>
                  <a:schemeClr val="bg1"/>
                </a:solidFill>
              </a:rPr>
              <a:t>θ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596076" y="3006510"/>
            <a:ext cx="29206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z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19175" y="6375228"/>
            <a:ext cx="386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 </a:t>
            </a:r>
            <a:r>
              <a:rPr lang="en-US" altLang="ko-KR" dirty="0"/>
              <a:t>3. </a:t>
            </a:r>
            <a:r>
              <a:rPr lang="en-US" altLang="ko-KR" dirty="0">
                <a:sym typeface="Wingdings" panose="05000000000000000000" pitchFamily="2" charset="2"/>
              </a:rPr>
              <a:t>r</a:t>
            </a:r>
            <a:r>
              <a:rPr lang="el-GR" altLang="ko-KR" dirty="0"/>
              <a:t>θ</a:t>
            </a:r>
            <a:r>
              <a:rPr lang="en-US" altLang="ko-KR" dirty="0">
                <a:sym typeface="Wingdings" panose="05000000000000000000" pitchFamily="2" charset="2"/>
              </a:rPr>
              <a:t>z </a:t>
            </a:r>
            <a:r>
              <a:rPr lang="ko-KR" altLang="en-US">
                <a:sym typeface="Wingdings" panose="05000000000000000000" pitchFamily="2" charset="2"/>
              </a:rPr>
              <a:t>좌표계 변환 결과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>
                <a:sym typeface="Wingdings" panose="05000000000000000000" pitchFamily="2" charset="2"/>
              </a:rPr>
              <a:t>엑셀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-87347" y="5478912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>
                <a:solidFill>
                  <a:srgbClr val="FF0000"/>
                </a:solidFill>
              </a:rPr>
              <a:t>중략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053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342900" y="260904"/>
            <a:ext cx="115922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/>
              <a:t>좌표변환 결과로부터 스프링 치수 추출</a:t>
            </a:r>
            <a:endParaRPr lang="en-US" altLang="ko-KR" dirty="0"/>
          </a:p>
          <a:p>
            <a:r>
              <a:rPr lang="en-US" altLang="ko-KR" dirty="0"/>
              <a:t>-  </a:t>
            </a:r>
            <a:r>
              <a:rPr lang="ko-KR" altLang="en-US"/>
              <a:t>좌표변환 테이블로부터 구한 좌표성분을 이용하여 스프링의 치수 </a:t>
            </a:r>
            <a:r>
              <a:rPr lang="en-US" altLang="ko-KR" dirty="0"/>
              <a:t>(</a:t>
            </a:r>
            <a:r>
              <a:rPr lang="ko-KR" altLang="en-US"/>
              <a:t>거리 개념</a:t>
            </a:r>
            <a:r>
              <a:rPr lang="en-US" altLang="ko-KR" dirty="0"/>
              <a:t>)</a:t>
            </a:r>
            <a:r>
              <a:rPr lang="ko-KR" altLang="en-US"/>
              <a:t>을 계산할 수 있음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ym typeface="Wingdings" panose="05000000000000000000" pitchFamily="2" charset="2"/>
              </a:rPr>
              <a:t>앞서 스프링의 중심선을 </a:t>
            </a:r>
            <a:r>
              <a:rPr lang="en-US" altLang="ko-KR" dirty="0">
                <a:sym typeface="Wingdings" panose="05000000000000000000" pitchFamily="2" charset="2"/>
              </a:rPr>
              <a:t>1000</a:t>
            </a:r>
            <a:r>
              <a:rPr lang="ko-KR" altLang="en-US">
                <a:sym typeface="Wingdings" panose="05000000000000000000" pitchFamily="2" charset="2"/>
              </a:rPr>
              <a:t>개로 등분한 포인트 데이터를 기반으로 외경이나 피치 등을 추출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ym typeface="Wingdings" panose="05000000000000000000" pitchFamily="2" charset="2"/>
              </a:rPr>
              <a:t>그러나</a:t>
            </a:r>
            <a:r>
              <a:rPr lang="en-US" altLang="ko-KR" dirty="0">
                <a:sym typeface="Wingdings" panose="05000000000000000000" pitchFamily="2" charset="2"/>
              </a:rPr>
              <a:t>, 1000</a:t>
            </a:r>
            <a:r>
              <a:rPr lang="ko-KR" altLang="en-US">
                <a:sym typeface="Wingdings" panose="05000000000000000000" pitchFamily="2" charset="2"/>
              </a:rPr>
              <a:t>개 데이터가 정확한 위치를 포함하고 있지 않으므로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Interpolation</a:t>
            </a:r>
            <a:r>
              <a:rPr lang="ko-KR" altLang="en-US">
                <a:sym typeface="Wingdings" panose="05000000000000000000" pitchFamily="2" charset="2"/>
              </a:rPr>
              <a:t>이 필요함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>
                <a:sym typeface="Wingdings" panose="05000000000000000000" pitchFamily="2" charset="2"/>
              </a:rPr>
              <a:t>다음 페이지 참고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270" y="2020937"/>
            <a:ext cx="2534850" cy="18528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255" y="2075149"/>
            <a:ext cx="3952723" cy="3381376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270" y="4044308"/>
            <a:ext cx="2534850" cy="1569733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4934" y="2327697"/>
            <a:ext cx="2258586" cy="268333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457268" y="5784612"/>
            <a:ext cx="2677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 </a:t>
            </a:r>
            <a:r>
              <a:rPr lang="en-US" altLang="ko-KR" dirty="0"/>
              <a:t>1. </a:t>
            </a:r>
            <a:r>
              <a:rPr lang="ko-KR" altLang="en-US"/>
              <a:t>대표 치수 </a:t>
            </a:r>
            <a:r>
              <a:rPr lang="en-US" altLang="ko-KR" dirty="0"/>
              <a:t>(</a:t>
            </a:r>
            <a:r>
              <a:rPr lang="ko-KR" altLang="en-US"/>
              <a:t>예시</a:t>
            </a:r>
            <a:r>
              <a:rPr lang="en-US" altLang="ko-KR" dirty="0"/>
              <a:t>)</a:t>
            </a: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827484" y="5784612"/>
            <a:ext cx="2908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 </a:t>
            </a:r>
            <a:r>
              <a:rPr lang="en-US" altLang="ko-KR" dirty="0"/>
              <a:t>2. </a:t>
            </a:r>
            <a:r>
              <a:rPr lang="ko-KR" altLang="en-US"/>
              <a:t>치수 그래프 </a:t>
            </a:r>
            <a:r>
              <a:rPr lang="en-US" altLang="ko-KR" dirty="0"/>
              <a:t>(</a:t>
            </a:r>
            <a:r>
              <a:rPr lang="ko-KR" altLang="en-US"/>
              <a:t>예시</a:t>
            </a:r>
            <a:r>
              <a:rPr lang="en-US" altLang="ko-KR" dirty="0"/>
              <a:t>)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774435" y="5784612"/>
            <a:ext cx="2677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 </a:t>
            </a:r>
            <a:r>
              <a:rPr lang="en-US" altLang="ko-KR" dirty="0"/>
              <a:t>3. </a:t>
            </a:r>
            <a:r>
              <a:rPr lang="ko-KR" altLang="en-US"/>
              <a:t>치수 정의 </a:t>
            </a:r>
            <a:r>
              <a:rPr lang="en-US" altLang="ko-KR" dirty="0"/>
              <a:t>(</a:t>
            </a:r>
            <a:r>
              <a:rPr lang="ko-KR" altLang="en-US"/>
              <a:t>예시</a:t>
            </a:r>
            <a:r>
              <a:rPr lang="en-US" altLang="ko-KR" dirty="0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165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r="49351" b="41812"/>
          <a:stretch/>
        </p:blipFill>
        <p:spPr>
          <a:xfrm>
            <a:off x="8385722" y="1724024"/>
            <a:ext cx="3425278" cy="2599401"/>
          </a:xfrm>
          <a:prstGeom prst="rect">
            <a:avLst/>
          </a:prstGeom>
          <a:ln w="34925">
            <a:solidFill>
              <a:srgbClr val="FF0000"/>
            </a:solidFill>
          </a:ln>
        </p:spPr>
      </p:pic>
      <p:grpSp>
        <p:nvGrpSpPr>
          <p:cNvPr id="8" name="그룹 7"/>
          <p:cNvGrpSpPr/>
          <p:nvPr/>
        </p:nvGrpSpPr>
        <p:grpSpPr>
          <a:xfrm>
            <a:off x="342900" y="1724025"/>
            <a:ext cx="3009900" cy="4495800"/>
            <a:chOff x="1590675" y="1724025"/>
            <a:chExt cx="3009900" cy="449580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/>
            <a:srcRect l="10838" r="51317"/>
            <a:stretch/>
          </p:blipFill>
          <p:spPr>
            <a:xfrm>
              <a:off x="1590675" y="1724025"/>
              <a:ext cx="3009900" cy="4495800"/>
            </a:xfrm>
            <a:prstGeom prst="rect">
              <a:avLst/>
            </a:prstGeom>
          </p:spPr>
        </p:pic>
        <p:cxnSp>
          <p:nvCxnSpPr>
            <p:cNvPr id="4" name="직선 화살표 연결선 3"/>
            <p:cNvCxnSpPr/>
            <p:nvPr/>
          </p:nvCxnSpPr>
          <p:spPr>
            <a:xfrm>
              <a:off x="2124075" y="4667250"/>
              <a:ext cx="112395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2362884" y="466725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피치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42900" y="260904"/>
            <a:ext cx="111619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/>
              <a:t>좌표변환 결과로부터 치수 추출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>
                <a:sym typeface="Wingdings" panose="05000000000000000000" pitchFamily="2" charset="2"/>
              </a:rPr>
              <a:t>앞서 스프링의 중심선을 </a:t>
            </a:r>
            <a:r>
              <a:rPr lang="en-US" altLang="ko-KR" dirty="0">
                <a:sym typeface="Wingdings" panose="05000000000000000000" pitchFamily="2" charset="2"/>
              </a:rPr>
              <a:t>1000</a:t>
            </a:r>
            <a:r>
              <a:rPr lang="ko-KR" altLang="en-US">
                <a:sym typeface="Wingdings" panose="05000000000000000000" pitchFamily="2" charset="2"/>
              </a:rPr>
              <a:t>개로 등분한 데이터를 기반으로 외경이나 피치 등을 추출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ym typeface="Wingdings" panose="05000000000000000000" pitchFamily="2" charset="2"/>
              </a:rPr>
              <a:t>그러나</a:t>
            </a:r>
            <a:r>
              <a:rPr lang="en-US" altLang="ko-KR" dirty="0">
                <a:sym typeface="Wingdings" panose="05000000000000000000" pitchFamily="2" charset="2"/>
              </a:rPr>
              <a:t>, 1000</a:t>
            </a:r>
            <a:r>
              <a:rPr lang="ko-KR" altLang="en-US">
                <a:sym typeface="Wingdings" panose="05000000000000000000" pitchFamily="2" charset="2"/>
              </a:rPr>
              <a:t>개 데이터가 정확한 위치를 포함하고 있지 않으므로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Interpolation</a:t>
            </a:r>
            <a:r>
              <a:rPr lang="ko-KR" altLang="en-US">
                <a:sym typeface="Wingdings" panose="05000000000000000000" pitchFamily="2" charset="2"/>
              </a:rPr>
              <a:t>이 필요함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ym typeface="Wingdings" panose="05000000000000000000" pitchFamily="2" charset="2"/>
              </a:rPr>
              <a:t>단순히 평균 개념을 쓰기 보다는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r>
              <a:rPr lang="ko-KR" altLang="en-US">
                <a:solidFill>
                  <a:srgbClr val="FF0000"/>
                </a:solidFill>
                <a:sym typeface="Wingdings" panose="05000000000000000000" pitchFamily="2" charset="2"/>
              </a:rPr>
              <a:t>개의 점을 이용한 호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(arc)</a:t>
            </a:r>
            <a:r>
              <a:rPr lang="ko-KR" altLang="en-US">
                <a:solidFill>
                  <a:srgbClr val="FF0000"/>
                </a:solidFill>
                <a:sym typeface="Wingdings" panose="05000000000000000000" pitchFamily="2" charset="2"/>
              </a:rPr>
              <a:t>에서 추출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(3</a:t>
            </a:r>
            <a:r>
              <a:rPr lang="ko-KR" altLang="en-US">
                <a:solidFill>
                  <a:srgbClr val="FF0000"/>
                </a:solidFill>
                <a:sym typeface="Wingdings" panose="05000000000000000000" pitchFamily="2" charset="2"/>
              </a:rPr>
              <a:t>개의 점은 공간상의 점으로 주의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3591609" y="1724024"/>
            <a:ext cx="4555304" cy="4495801"/>
            <a:chOff x="5597185" y="1724024"/>
            <a:chExt cx="4555304" cy="4495801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97185" y="1724024"/>
              <a:ext cx="4555304" cy="4495801"/>
            </a:xfrm>
            <a:prstGeom prst="rect">
              <a:avLst/>
            </a:prstGeom>
          </p:spPr>
        </p:pic>
        <p:cxnSp>
          <p:nvCxnSpPr>
            <p:cNvPr id="11" name="직선 화살표 연결선 10"/>
            <p:cNvCxnSpPr/>
            <p:nvPr/>
          </p:nvCxnSpPr>
          <p:spPr>
            <a:xfrm flipV="1">
              <a:off x="7486650" y="2019300"/>
              <a:ext cx="1019175" cy="3781425"/>
            </a:xfrm>
            <a:prstGeom prst="straightConnector1">
              <a:avLst/>
            </a:prstGeom>
            <a:ln>
              <a:solidFill>
                <a:srgbClr val="FFC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8201025" y="3295650"/>
              <a:ext cx="15296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외경 </a:t>
              </a:r>
              <a:r>
                <a:rPr lang="en-US" altLang="ko-KR" dirty="0">
                  <a:solidFill>
                    <a:schemeClr val="bg1"/>
                  </a:solidFill>
                </a:rPr>
                <a:t>(Vector)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15" name="직선 화살표 연결선 14"/>
          <p:cNvCxnSpPr/>
          <p:nvPr/>
        </p:nvCxnSpPr>
        <p:spPr>
          <a:xfrm flipV="1">
            <a:off x="9982200" y="3366018"/>
            <a:ext cx="318875" cy="1165597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9436100" y="2503061"/>
            <a:ext cx="20233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포인트가 없음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>
                <a:solidFill>
                  <a:schemeClr val="bg1"/>
                </a:solidFill>
              </a:rPr>
              <a:t>보간법으로 생성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슬라이드 번호 개체 틀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9813724" y="3540680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663065" y="354068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6195449" y="1794584"/>
            <a:ext cx="597237" cy="491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0036378" y="3944112"/>
            <a:ext cx="152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외경 </a:t>
            </a:r>
            <a:r>
              <a:rPr lang="en-US" altLang="ko-KR" dirty="0">
                <a:solidFill>
                  <a:schemeClr val="bg1"/>
                </a:solidFill>
              </a:rPr>
              <a:t>(Vector)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7" name="오른쪽 화살표 26"/>
          <p:cNvSpPr/>
          <p:nvPr/>
        </p:nvSpPr>
        <p:spPr>
          <a:xfrm>
            <a:off x="6923900" y="1680703"/>
            <a:ext cx="1578074" cy="6061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69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스프링 형상 측정 프로그램 피드백 </a:t>
            </a:r>
            <a:r>
              <a:rPr lang="en-US" altLang="ko-KR" sz="5400" dirty="0"/>
              <a:t>(1</a:t>
            </a:r>
            <a:r>
              <a:rPr lang="ko-KR" altLang="en-US" sz="5400" dirty="0"/>
              <a:t>차</a:t>
            </a:r>
            <a:r>
              <a:rPr lang="en-US" altLang="ko-KR" sz="5400" dirty="0"/>
              <a:t>)</a:t>
            </a:r>
            <a:endParaRPr lang="ko-KR" altLang="en-US" sz="5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b="1" dirty="0"/>
              <a:t>25.10.17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45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8" y="274235"/>
            <a:ext cx="7790063" cy="38538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1192" y="4128092"/>
            <a:ext cx="11561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/>
              <a:t>좌표 변환을 일부 하신 것 같습니다</a:t>
            </a:r>
            <a:r>
              <a:rPr lang="en-US" altLang="ko-KR" dirty="0"/>
              <a:t>. (3D Spring Data </a:t>
            </a:r>
            <a:r>
              <a:rPr lang="ko-KR" altLang="en-US"/>
              <a:t>그래프가 </a:t>
            </a:r>
            <a:r>
              <a:rPr lang="en-US" altLang="ko-KR" dirty="0"/>
              <a:t>x</a:t>
            </a:r>
            <a:r>
              <a:rPr lang="ko-KR" altLang="en-US"/>
              <a:t>축과 평행합니다</a:t>
            </a:r>
            <a:r>
              <a:rPr lang="en-US" altLang="ko-KR" dirty="0"/>
              <a:t>.)</a:t>
            </a:r>
          </a:p>
          <a:p>
            <a:r>
              <a:rPr lang="en-US" altLang="ko-KR" dirty="0"/>
              <a:t>2. </a:t>
            </a:r>
            <a:r>
              <a:rPr lang="ko-KR" altLang="en-US"/>
              <a:t>해상도가 낮아서 정확하지는 않지만</a:t>
            </a:r>
            <a:r>
              <a:rPr lang="en-US" altLang="ko-KR" dirty="0"/>
              <a:t>, </a:t>
            </a:r>
            <a:r>
              <a:rPr lang="en-US" altLang="ko-KR" dirty="0" err="1"/>
              <a:t>xy</a:t>
            </a:r>
            <a:r>
              <a:rPr lang="en-US" altLang="ko-KR" dirty="0"/>
              <a:t> </a:t>
            </a:r>
            <a:r>
              <a:rPr lang="ko-KR" altLang="en-US"/>
              <a:t>평면과 </a:t>
            </a:r>
            <a:r>
              <a:rPr lang="en-US" altLang="ko-KR" dirty="0" err="1"/>
              <a:t>xz</a:t>
            </a:r>
            <a:r>
              <a:rPr lang="en-US" altLang="ko-KR" dirty="0"/>
              <a:t> </a:t>
            </a:r>
            <a:r>
              <a:rPr lang="ko-KR" altLang="en-US"/>
              <a:t>평면의 그래프가 완벽하지는 않지만 스프링을 표현하는 것 같습니다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3. </a:t>
            </a:r>
            <a:r>
              <a:rPr lang="ko-KR" altLang="en-US"/>
              <a:t>원통좌표계로 변환이 필요한데</a:t>
            </a:r>
            <a:r>
              <a:rPr lang="en-US" altLang="ko-KR" dirty="0"/>
              <a:t>, </a:t>
            </a:r>
            <a:r>
              <a:rPr lang="ko-KR" altLang="en-US"/>
              <a:t>그렇게 하지 않으신 것 같습니다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4. </a:t>
            </a:r>
            <a:r>
              <a:rPr lang="ko-KR" altLang="en-US"/>
              <a:t>직교좌표계와 원통좌표계의 원점과 좌표축을 일치시키는 작업이 필요합니다</a:t>
            </a:r>
            <a:r>
              <a:rPr lang="en-US" altLang="ko-KR" dirty="0"/>
              <a:t>. 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80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1" y="274735"/>
            <a:ext cx="8177839" cy="40456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1192" y="4562659"/>
            <a:ext cx="11561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/>
              <a:t>원통좌표계로 변환을 하면</a:t>
            </a:r>
            <a:r>
              <a:rPr lang="en-US" altLang="ko-KR" dirty="0"/>
              <a:t>, </a:t>
            </a:r>
            <a:r>
              <a:rPr lang="ko-KR" altLang="en-US"/>
              <a:t>가로축은 주로 스프링의 권수 </a:t>
            </a:r>
            <a:r>
              <a:rPr lang="en-US" altLang="ko-KR" dirty="0"/>
              <a:t>(</a:t>
            </a:r>
            <a:r>
              <a:rPr lang="ko-KR" altLang="en-US"/>
              <a:t>원통좌표계의 </a:t>
            </a:r>
            <a:r>
              <a:rPr lang="en-US" altLang="ko-KR" dirty="0"/>
              <a:t>theta </a:t>
            </a:r>
            <a:r>
              <a:rPr lang="ko-KR" altLang="en-US"/>
              <a:t>정보로부터 얻을 수 있음</a:t>
            </a:r>
            <a:r>
              <a:rPr lang="en-US" altLang="ko-KR" dirty="0"/>
              <a:t>)</a:t>
            </a:r>
            <a:r>
              <a:rPr lang="ko-KR" altLang="en-US"/>
              <a:t>에 대한 스프링의 높이와 피치</a:t>
            </a:r>
            <a:r>
              <a:rPr lang="en-US" altLang="ko-KR" dirty="0"/>
              <a:t>, </a:t>
            </a:r>
            <a:r>
              <a:rPr lang="ko-KR" altLang="en-US"/>
              <a:t>반경과 외경을 그립니다</a:t>
            </a:r>
            <a:r>
              <a:rPr lang="en-US" altLang="ko-KR" dirty="0"/>
              <a:t>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504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1834" y="678751"/>
            <a:ext cx="11472816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요구사항 불일치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/</a:t>
            </a:r>
            <a:r>
              <a:rPr kumimoji="0" lang="ko-KR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모호점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 분석</a:t>
            </a:r>
            <a:b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</a:br>
            <a:b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</a:br>
            <a:b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1. **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데이터 개수 불일치**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: 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사양서는 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"1000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개 포인트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"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라고 하지만 실제 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IGS 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파일에는 **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3,141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개 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Point**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가 있음 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</a:t>
            </a:r>
            <a:r>
              <a:rPr kumimoji="0" lang="en-US" altLang="ko-KR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 1000</a:t>
            </a:r>
            <a:r>
              <a:rPr kumimoji="0" lang="ko-KR" altLang="en-US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개로 표준화 해야 합니다</a:t>
            </a:r>
            <a:r>
              <a:rPr kumimoji="0" lang="en-US" altLang="ko-KR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.</a:t>
            </a:r>
            <a:b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2. **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좌표계 중심 정의 모호**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  <a:t>: "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스프링 </a:t>
            </a:r>
            <a:r>
              <a:rPr lang="ko-KR" altLang="en-US" sz="1200" dirty="0" err="1">
                <a:latin typeface="Arial" panose="020B0604020202020204" pitchFamily="34" charset="0"/>
                <a:cs typeface="굴림" panose="020B0600000101010101" pitchFamily="50" charset="-127"/>
              </a:rPr>
              <a:t>맨위의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 중앙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"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이라는 표현이 구체적이지 않음 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 5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쪽의 그림 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를 참고하세요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.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3. **Diameter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계산법 미정의**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 Perpendicular </a:t>
            </a:r>
            <a:r>
              <a:rPr lang="en-US" altLang="ko-KR" sz="1200" dirty="0" err="1">
                <a:latin typeface="Arial" panose="020B0604020202020204" pitchFamily="34" charset="0"/>
                <a:cs typeface="굴림" panose="020B0600000101010101" pitchFamily="50" charset="-127"/>
              </a:rPr>
              <a:t>vs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굴림" panose="020B0600000101010101" pitchFamily="50" charset="-127"/>
              </a:rPr>
              <a:t>Vectorial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의 차이점 불명확 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별도 설명 필요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4. **Turn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계산 방법 불명확**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전체 회전수인지 부분 회전수인지 미정의 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별도 설명 필요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5. **3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점 호 </a:t>
            </a:r>
            <a:r>
              <a:rPr lang="ko-KR" altLang="en-US" sz="1200" dirty="0" err="1">
                <a:latin typeface="Arial" panose="020B0604020202020204" pitchFamily="34" charset="0"/>
                <a:cs typeface="굴림" panose="020B0600000101010101" pitchFamily="50" charset="-127"/>
              </a:rPr>
              <a:t>보간법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 세부사항 부족**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 3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점 선택 기준과 계산 알고리즘 불명확 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 3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점 선택 기준은 스프링 시작점을 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1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로 하면 대략적으로 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10, 25, 50</a:t>
            </a:r>
            <a:r>
              <a:rPr lang="ko-KR" altLang="en-US" sz="1200" dirty="0" err="1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번쨰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 포인트 기준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###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📋 **즉시 결정 필요한 우선순위**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**높음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:**</a:t>
            </a:r>
            <a:b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- Point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개수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 3,141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개 모두 사용 </a:t>
            </a:r>
            <a:r>
              <a:rPr lang="en-US" altLang="ko-KR" sz="1200" dirty="0" err="1">
                <a:latin typeface="Arial" panose="020B0604020202020204" pitchFamily="34" charset="0"/>
                <a:cs typeface="굴림" panose="020B0600000101010101" pitchFamily="50" charset="-127"/>
              </a:rPr>
              <a:t>vs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 1000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개로 </a:t>
            </a:r>
            <a:r>
              <a:rPr lang="ko-KR" altLang="en-US" sz="1200" dirty="0" err="1">
                <a:latin typeface="Arial" panose="020B0604020202020204" pitchFamily="34" charset="0"/>
                <a:cs typeface="굴림" panose="020B0600000101010101" pitchFamily="50" charset="-127"/>
              </a:rPr>
              <a:t>리샘플링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 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 err="1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리샘플링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-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좌표계 정렬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 PCA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축 정렬 </a:t>
            </a:r>
            <a:r>
              <a:rPr lang="en-US" altLang="ko-KR" sz="1200" dirty="0" err="1">
                <a:latin typeface="Arial" panose="020B0604020202020204" pitchFamily="34" charset="0"/>
                <a:cs typeface="굴림" panose="020B0600000101010101" pitchFamily="50" charset="-127"/>
              </a:rPr>
              <a:t>vs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원본 사용  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원본을 사용하면 안되고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새로운 좌표축으로 변환해야 합니다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. PCA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축이 무엇인지 설명이 필요합니다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.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- θ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기준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 0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도 방향과 회전 방향 정의 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별도 설명 필요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**중간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:**</a:t>
            </a:r>
            <a:b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- Diameter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계산법 정의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 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별도 설명 필요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- Turn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계산 방법 확정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 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별도 설명 필요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- </a:t>
            </a:r>
            <a:r>
              <a:rPr lang="en-US" altLang="ko-KR" sz="1200" dirty="0" err="1">
                <a:latin typeface="Arial" panose="020B0604020202020204" pitchFamily="34" charset="0"/>
                <a:cs typeface="굴림" panose="020B0600000101010101" pitchFamily="50" charset="-127"/>
              </a:rPr>
              <a:t>min_pitch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의미 명확화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 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  <a:sym typeface="Wingdings" panose="05000000000000000000" pitchFamily="2" charset="2"/>
              </a:rPr>
              <a:t>별도 설명 필요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### ✅ **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확인된 가능성**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- **IGS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파일에서 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xyz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좌표계 중심 도출**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 ✅ **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가능** 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(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분석완료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 -473.378, 86.256, 449.133)</a:t>
            </a:r>
            <a:b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- **</a:t>
            </a:r>
            <a:r>
              <a:rPr lang="en-US" altLang="ko-KR" sz="1200" dirty="0" err="1">
                <a:latin typeface="Arial" panose="020B0604020202020204" pitchFamily="34" charset="0"/>
                <a:cs typeface="굴림" panose="020B0600000101010101" pitchFamily="50" charset="-127"/>
              </a:rPr>
              <a:t>rθz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 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좌표계 중심**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 ✅ **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스프링 상단 중앙으로 설정 가능**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- **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좌표 변환**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 ✅ **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수학적으로 완전히 가능**</a:t>
            </a:r>
            <a:b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</a:b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- **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치수 계산**</a:t>
            </a:r>
            <a:r>
              <a:rPr lang="en-US" altLang="ko-KR" sz="1200" dirty="0">
                <a:latin typeface="Arial" panose="020B0604020202020204" pitchFamily="34" charset="0"/>
                <a:cs typeface="굴림" panose="020B0600000101010101" pitchFamily="50" charset="-127"/>
              </a:rPr>
              <a:t>: ✅ **</a:t>
            </a:r>
            <a:r>
              <a:rPr lang="ko-KR" altLang="en-US" sz="1200" dirty="0">
                <a:latin typeface="Arial" panose="020B0604020202020204" pitchFamily="34" charset="0"/>
                <a:cs typeface="굴림" panose="020B0600000101010101" pitchFamily="50" charset="-127"/>
              </a:rPr>
              <a:t>통계적 분석으로 가능**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2676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ko-K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굴림" panose="020B0600000101010101" pitchFamily="50" charset="-127"/>
              </a:rPr>
            </a:br>
            <a:endParaRPr kumimoji="0" lang="en-US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1834" y="208230"/>
            <a:ext cx="2908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화살표로 답변을 달았습니다</a:t>
            </a:r>
            <a:r>
              <a:rPr lang="en-US" altLang="ko-KR" sz="1600" dirty="0">
                <a:solidFill>
                  <a:srgbClr val="FF0000"/>
                </a:solidFill>
              </a:rPr>
              <a:t>. </a:t>
            </a:r>
            <a:endParaRPr lang="ko-KR" altLang="en-US" sz="16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693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B4A57-4D29-7A01-F75B-EF85AC83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32D75A97-F4F3-CAA9-41CA-30F012FE3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6C3E8FD-EDEC-297C-A9F3-02F54040368A}"/>
              </a:ext>
            </a:extLst>
          </p:cNvPr>
          <p:cNvGrpSpPr/>
          <p:nvPr/>
        </p:nvGrpSpPr>
        <p:grpSpPr>
          <a:xfrm>
            <a:off x="252443" y="534239"/>
            <a:ext cx="11604277" cy="6119010"/>
            <a:chOff x="342899" y="2646222"/>
            <a:chExt cx="9144000" cy="611901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29EF826-EDC8-61C0-9FD1-D1A96FC4EE48}"/>
                </a:ext>
              </a:extLst>
            </p:cNvPr>
            <p:cNvSpPr txBox="1"/>
            <p:nvPr/>
          </p:nvSpPr>
          <p:spPr>
            <a:xfrm>
              <a:off x="454821" y="7164794"/>
              <a:ext cx="8982878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altLang="ko-KR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igs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데이터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파일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: </a:t>
              </a:r>
              <a:r>
                <a:rPr lang="ko-KR" altLang="en-US" sz="1600" dirty="0"/>
                <a:t>스프링을 스캐닝 후 스프링 단면의 중심점을 추출하여 저장된 원시 데이터</a:t>
              </a:r>
              <a:r>
                <a:rPr lang="en-US" altLang="ko-KR" sz="1600" dirty="0"/>
                <a:t>(</a:t>
              </a:r>
              <a:r>
                <a:rPr lang="ko-KR" altLang="en-US" sz="1600" dirty="0"/>
                <a:t>파일</a:t>
              </a:r>
              <a:r>
                <a:rPr lang="en-US" altLang="ko-KR" sz="1600" dirty="0"/>
                <a:t>) </a:t>
              </a:r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좌표계기준점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: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직교좌표계와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원통좌표계의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기준이 되는 원점</a:t>
              </a:r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표준화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(Normalization): 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불규칙한 실측데이터를 시작점과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종료점간의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1,000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개의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등간격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포인트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점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의 데이터로 변환</a:t>
              </a:r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r>
                <a:rPr lang="en-US" altLang="ko-KR" b="1" dirty="0"/>
                <a:t>    Uniform B-Spline/None-Uniform Rotation B-Spline (NURBS)</a:t>
              </a:r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altLang="ko-KR" sz="1600" dirty="0">
                  <a:latin typeface="Arial" panose="020B0604020202020204" pitchFamily="34" charset="0"/>
                  <a:cs typeface="굴림" panose="020B0600000101010101" pitchFamily="50" charset="-127"/>
                </a:rPr>
                <a:t>θ </a:t>
              </a:r>
              <a:r>
                <a:rPr lang="ko-KR" altLang="en-US" sz="1600" dirty="0">
                  <a:latin typeface="Arial" panose="020B0604020202020204" pitchFamily="34" charset="0"/>
                  <a:cs typeface="굴림" panose="020B0600000101010101" pitchFamily="50" charset="-127"/>
                </a:rPr>
                <a:t>기준방향</a:t>
              </a:r>
              <a:r>
                <a:rPr lang="en-US" altLang="ko-KR" sz="1600" dirty="0">
                  <a:latin typeface="Arial" panose="020B0604020202020204" pitchFamily="34" charset="0"/>
                  <a:cs typeface="굴림" panose="020B0600000101010101" pitchFamily="50" charset="-127"/>
                </a:rPr>
                <a:t>: </a:t>
              </a:r>
              <a:r>
                <a:rPr lang="ko-KR" altLang="en-US" sz="1600" dirty="0">
                  <a:latin typeface="Arial" panose="020B0604020202020204" pitchFamily="34" charset="0"/>
                  <a:cs typeface="굴림" panose="020B0600000101010101" pitchFamily="50" charset="-127"/>
                </a:rPr>
                <a:t>시작점</a:t>
              </a:r>
              <a:r>
                <a:rPr lang="en-US" altLang="ko-KR" sz="1600" dirty="0">
                  <a:latin typeface="Arial" panose="020B0604020202020204" pitchFamily="34" charset="0"/>
                  <a:cs typeface="굴림" panose="020B0600000101010101" pitchFamily="50" charset="-127"/>
                </a:rPr>
                <a:t>(0</a:t>
              </a:r>
              <a:r>
                <a:rPr lang="ko-KR" altLang="en-US" sz="1600" dirty="0">
                  <a:latin typeface="Arial" panose="020B0604020202020204" pitchFamily="34" charset="0"/>
                  <a:cs typeface="굴림" panose="020B0600000101010101" pitchFamily="50" charset="-127"/>
                </a:rPr>
                <a:t>도 방향</a:t>
              </a:r>
              <a:r>
                <a:rPr lang="en-US" altLang="ko-KR" sz="1600" dirty="0">
                  <a:latin typeface="Arial" panose="020B0604020202020204" pitchFamily="34" charset="0"/>
                  <a:cs typeface="굴림" panose="020B0600000101010101" pitchFamily="50" charset="-127"/>
                </a:rPr>
                <a:t>)</a:t>
              </a:r>
              <a:r>
                <a:rPr lang="ko-KR" altLang="en-US" sz="1600" dirty="0">
                  <a:latin typeface="Arial" panose="020B0604020202020204" pitchFamily="34" charset="0"/>
                  <a:cs typeface="굴림" panose="020B0600000101010101" pitchFamily="50" charset="-127"/>
                </a:rPr>
                <a:t>에서 종료점으로 위치데이터를 따라서 회전하는 방향으로 설정</a:t>
              </a:r>
              <a:endParaRPr lang="en-US" altLang="ko-KR" sz="1600" dirty="0">
                <a:latin typeface="Arial" panose="020B0604020202020204" pitchFamily="34" charset="0"/>
                <a:cs typeface="굴림" panose="020B060000010101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ko-KR" altLang="en-US" sz="1600" dirty="0">
                  <a:latin typeface="Arial" panose="020B0604020202020204" pitchFamily="34" charset="0"/>
                  <a:sym typeface="Wingdings" panose="05000000000000000000" pitchFamily="2" charset="2"/>
                </a:rPr>
                <a:t>기본길이 단위는 </a:t>
              </a:r>
              <a:r>
                <a:rPr lang="en-US" altLang="ko-KR" sz="1600" dirty="0">
                  <a:latin typeface="Arial" panose="020B0604020202020204" pitchFamily="34" charset="0"/>
                  <a:sym typeface="Wingdings" panose="05000000000000000000" pitchFamily="2" charset="2"/>
                </a:rPr>
                <a:t>mm (</a:t>
              </a:r>
              <a:r>
                <a:rPr lang="ko-KR" altLang="en-US" sz="1600" dirty="0" err="1">
                  <a:latin typeface="Arial" panose="020B0604020202020204" pitchFamily="34" charset="0"/>
                  <a:sym typeface="Wingdings" panose="05000000000000000000" pitchFamily="2" charset="2"/>
                </a:rPr>
                <a:t>회전수</a:t>
              </a:r>
              <a:r>
                <a:rPr lang="en-US" altLang="ko-KR" sz="1600" dirty="0">
                  <a:latin typeface="Arial" panose="020B0604020202020204" pitchFamily="34" charset="0"/>
                  <a:sym typeface="Wingdings" panose="05000000000000000000" pitchFamily="2" charset="2"/>
                </a:rPr>
                <a:t>,</a:t>
              </a:r>
              <a:r>
                <a:rPr lang="ko-KR" altLang="en-US" sz="1600" dirty="0">
                  <a:latin typeface="Arial" panose="020B0604020202020204" pitchFamily="34" charset="0"/>
                  <a:sym typeface="Wingdings" panose="05000000000000000000" pitchFamily="2" charset="2"/>
                </a:rPr>
                <a:t>권수 등 제외</a:t>
              </a:r>
              <a:r>
                <a:rPr lang="en-US" altLang="ko-KR" sz="1600" dirty="0">
                  <a:latin typeface="Arial" panose="020B0604020202020204" pitchFamily="34" charset="0"/>
                  <a:sym typeface="Wingdings" panose="05000000000000000000" pitchFamily="2" charset="2"/>
                </a:rPr>
                <a:t>)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</p:txBody>
        </p:sp>
        <p:sp>
          <p:nvSpPr>
            <p:cNvPr id="10" name="제목 1">
              <a:extLst>
                <a:ext uri="{FF2B5EF4-FFF2-40B4-BE49-F238E27FC236}">
                  <a16:creationId xmlns:a16="http://schemas.microsoft.com/office/drawing/2014/main" id="{FBE81CC2-A18E-AB06-E062-1C091FC0CBCB}"/>
                </a:ext>
              </a:extLst>
            </p:cNvPr>
            <p:cNvSpPr txBox="1">
              <a:spLocks/>
            </p:cNvSpPr>
            <p:nvPr/>
          </p:nvSpPr>
          <p:spPr>
            <a:xfrm>
              <a:off x="342899" y="2646222"/>
              <a:ext cx="9144000" cy="56207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ko-KR" altLang="en-US" sz="2800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 처리프로세스</a:t>
              </a:r>
            </a:p>
          </p:txBody>
        </p:sp>
      </p:grpSp>
      <p:sp>
        <p:nvSpPr>
          <p:cNvPr id="30" name="Oval 35">
            <a:extLst>
              <a:ext uri="{FF2B5EF4-FFF2-40B4-BE49-F238E27FC236}">
                <a16:creationId xmlns:a16="http://schemas.microsoft.com/office/drawing/2014/main" id="{F637FF66-0E97-B6FB-B454-3972B627E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714" y="1170227"/>
            <a:ext cx="177924" cy="177923"/>
          </a:xfrm>
          <a:prstGeom prst="ellipse">
            <a:avLst/>
          </a:prstGeom>
          <a:solidFill>
            <a:srgbClr val="FF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86" name="Oval 35">
            <a:extLst>
              <a:ext uri="{FF2B5EF4-FFF2-40B4-BE49-F238E27FC236}">
                <a16:creationId xmlns:a16="http://schemas.microsoft.com/office/drawing/2014/main" id="{9E02236E-C6FF-8051-1330-01F6EF591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326" y="1170227"/>
            <a:ext cx="177924" cy="177923"/>
          </a:xfrm>
          <a:prstGeom prst="ellipse">
            <a:avLst/>
          </a:prstGeom>
          <a:solidFill>
            <a:srgbClr val="FF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87" name="Oval 35">
            <a:extLst>
              <a:ext uri="{FF2B5EF4-FFF2-40B4-BE49-F238E27FC236}">
                <a16:creationId xmlns:a16="http://schemas.microsoft.com/office/drawing/2014/main" id="{BE76B9B8-445F-0492-236E-906CD7788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0162" y="1170227"/>
            <a:ext cx="177924" cy="177923"/>
          </a:xfrm>
          <a:prstGeom prst="ellipse">
            <a:avLst/>
          </a:prstGeom>
          <a:solidFill>
            <a:srgbClr val="FF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5</a:t>
            </a:r>
          </a:p>
        </p:txBody>
      </p:sp>
      <p:sp>
        <p:nvSpPr>
          <p:cNvPr id="88" name="Oval 35">
            <a:extLst>
              <a:ext uri="{FF2B5EF4-FFF2-40B4-BE49-F238E27FC236}">
                <a16:creationId xmlns:a16="http://schemas.microsoft.com/office/drawing/2014/main" id="{CF56BAC2-9907-40F0-093B-673D66BD8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0938" y="1170227"/>
            <a:ext cx="177924" cy="177923"/>
          </a:xfrm>
          <a:prstGeom prst="ellipse">
            <a:avLst/>
          </a:prstGeom>
          <a:solidFill>
            <a:srgbClr val="FF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</a:p>
        </p:txBody>
      </p:sp>
      <p:sp>
        <p:nvSpPr>
          <p:cNvPr id="89" name="Oval 35">
            <a:extLst>
              <a:ext uri="{FF2B5EF4-FFF2-40B4-BE49-F238E27FC236}">
                <a16:creationId xmlns:a16="http://schemas.microsoft.com/office/drawing/2014/main" id="{7DC7BA45-0182-98FD-31C3-A3EC1D2BF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0550" y="1170227"/>
            <a:ext cx="177924" cy="177923"/>
          </a:xfrm>
          <a:prstGeom prst="ellipse">
            <a:avLst/>
          </a:prstGeom>
          <a:solidFill>
            <a:srgbClr val="FF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9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</a:p>
        </p:txBody>
      </p:sp>
      <p:cxnSp>
        <p:nvCxnSpPr>
          <p:cNvPr id="94" name="꺾인 연결선 124">
            <a:extLst>
              <a:ext uri="{FF2B5EF4-FFF2-40B4-BE49-F238E27FC236}">
                <a16:creationId xmlns:a16="http://schemas.microsoft.com/office/drawing/2014/main" id="{4F58C029-68D7-1080-830E-DD43DDFCDE7C}"/>
              </a:ext>
            </a:extLst>
          </p:cNvPr>
          <p:cNvCxnSpPr>
            <a:cxnSpLocks/>
          </p:cNvCxnSpPr>
          <p:nvPr/>
        </p:nvCxnSpPr>
        <p:spPr>
          <a:xfrm flipH="1">
            <a:off x="8997561" y="2686447"/>
            <a:ext cx="324221" cy="0"/>
          </a:xfrm>
          <a:prstGeom prst="straightConnector1">
            <a:avLst/>
          </a:prstGeom>
          <a:ln>
            <a:solidFill>
              <a:srgbClr val="0070C0"/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11F1192A-0E63-2C25-BD1C-883938C9D421}"/>
              </a:ext>
            </a:extLst>
          </p:cNvPr>
          <p:cNvGrpSpPr/>
          <p:nvPr/>
        </p:nvGrpSpPr>
        <p:grpSpPr>
          <a:xfrm>
            <a:off x="7415090" y="1486381"/>
            <a:ext cx="1902289" cy="3177093"/>
            <a:chOff x="415745" y="1453189"/>
            <a:chExt cx="1902289" cy="2061503"/>
          </a:xfrm>
        </p:grpSpPr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7363430C-7EC8-D009-0C17-14E4BD060379}"/>
                </a:ext>
              </a:extLst>
            </p:cNvPr>
            <p:cNvSpPr/>
            <p:nvPr/>
          </p:nvSpPr>
          <p:spPr bwMode="auto">
            <a:xfrm>
              <a:off x="415745" y="1830127"/>
              <a:ext cx="1902289" cy="168456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36000" tIns="180000" rIns="36000" bIns="36000" anchor="t" anchorCtr="0"/>
            <a:lstStyle/>
            <a:p>
              <a:pPr marL="171450" indent="-171450" defTabSz="457200" latinLnBrk="0">
                <a:buFont typeface="Arial" panose="020B0604020202020204" pitchFamily="34" charset="0"/>
                <a:buChar char="•"/>
                <a:defRPr/>
              </a:pP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기준점을 원점으로 보정된 직교좌표를 원통좌표로 변환</a:t>
              </a:r>
              <a:r>
                <a:rPr lang="en-US" altLang="ko-KR" sz="1000" b="1" dirty="0">
                  <a:latin typeface="+mn-ea"/>
                </a:rPr>
                <a:t> (</a:t>
              </a:r>
              <a:r>
                <a:rPr lang="en-US" altLang="ko-KR" sz="1000" b="1" dirty="0" err="1">
                  <a:latin typeface="+mn-ea"/>
                </a:rPr>
                <a:t>xyz</a:t>
              </a:r>
              <a:r>
                <a:rPr lang="en-US" altLang="ko-KR" sz="1000" b="1" dirty="0">
                  <a:latin typeface="+mn-ea"/>
                </a:rPr>
                <a:t> -&gt; </a:t>
              </a:r>
              <a:r>
                <a:rPr lang="en-US" altLang="ko-KR" sz="1000" b="1" dirty="0" err="1">
                  <a:latin typeface="+mn-ea"/>
                </a:rPr>
                <a:t>rθz</a:t>
              </a:r>
              <a:r>
                <a:rPr lang="en-US" altLang="ko-KR" sz="1000" b="1" dirty="0">
                  <a:latin typeface="+mn-ea"/>
                </a:rPr>
                <a:t>)</a:t>
              </a:r>
              <a:endParaRPr lang="en-US" altLang="ko-KR" sz="10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6C57E316-9449-C8B8-7CF4-3F9F8B7120BA}"/>
                </a:ext>
              </a:extLst>
            </p:cNvPr>
            <p:cNvSpPr/>
            <p:nvPr/>
          </p:nvSpPr>
          <p:spPr bwMode="auto">
            <a:xfrm>
              <a:off x="415745" y="1453189"/>
              <a:ext cx="1902289" cy="37340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90000" tIns="46800" rIns="90000" bIns="46800" anchor="ctr"/>
            <a:lstStyle/>
            <a:p>
              <a:pPr algn="ctr" defTabSz="457200" latinLnBrk="0"/>
              <a:r>
                <a:rPr lang="ko-KR" altLang="en-US" sz="1000" b="1" dirty="0" err="1">
                  <a:latin typeface="+mn-ea"/>
                </a:rPr>
                <a:t>원통좌표계로</a:t>
              </a:r>
              <a:r>
                <a:rPr lang="ko-KR" altLang="en-US" sz="1000" b="1" dirty="0">
                  <a:latin typeface="+mn-ea"/>
                </a:rPr>
                <a:t> 변환</a:t>
              </a:r>
              <a:endParaRPr lang="en-US" altLang="ko-KR" sz="1000" b="1" dirty="0">
                <a:latin typeface="+mn-ea"/>
              </a:endParaRPr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F22D4B4C-01B4-0580-00B5-1ABF03FD4688}"/>
              </a:ext>
            </a:extLst>
          </p:cNvPr>
          <p:cNvGrpSpPr/>
          <p:nvPr/>
        </p:nvGrpSpPr>
        <p:grpSpPr>
          <a:xfrm>
            <a:off x="599532" y="1486381"/>
            <a:ext cx="1902289" cy="3177093"/>
            <a:chOff x="415745" y="1453189"/>
            <a:chExt cx="1902289" cy="2061503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B7BCFEC5-9CB9-FA42-1D7C-6C4DDDDA6833}"/>
                </a:ext>
              </a:extLst>
            </p:cNvPr>
            <p:cNvSpPr/>
            <p:nvPr/>
          </p:nvSpPr>
          <p:spPr bwMode="auto">
            <a:xfrm>
              <a:off x="415746" y="1830127"/>
              <a:ext cx="1902288" cy="168456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36000" tIns="180000" rIns="36000" bIns="36000" anchor="t" anchorCtr="0"/>
            <a:lstStyle/>
            <a:p>
              <a:pPr marL="171450" indent="-171450" defTabSz="457200" latinLnBrk="0">
                <a:buFont typeface="Arial" panose="020B0604020202020204" pitchFamily="34" charset="0"/>
                <a:buChar char="•"/>
                <a:defRPr/>
              </a:pPr>
              <a:r>
                <a:rPr lang="en-US" altLang="ko-KR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igs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데이터가 나선형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스프링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 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구조인지 분석</a:t>
              </a:r>
              <a:endParaRPr lang="en-US" altLang="ko-KR" sz="10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defTabSz="457200" latinLnBrk="0">
                <a:defRPr/>
              </a:pPr>
              <a:endParaRPr lang="en-US" altLang="ko-KR" sz="10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171450" indent="-171450" defTabSz="457200" latinLnBrk="0">
                <a:buFont typeface="Arial" panose="020B0604020202020204" pitchFamily="34" charset="0"/>
                <a:buChar char="•"/>
                <a:defRPr/>
              </a:pP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스프링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나선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의 시작점과 종료점의 선정</a:t>
              </a: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72B025EF-8925-B2BA-F139-84CE8D729F70}"/>
                </a:ext>
              </a:extLst>
            </p:cNvPr>
            <p:cNvSpPr/>
            <p:nvPr/>
          </p:nvSpPr>
          <p:spPr bwMode="auto">
            <a:xfrm>
              <a:off x="415745" y="1453189"/>
              <a:ext cx="1902289" cy="37340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90000" tIns="46800" rIns="90000" bIns="46800" anchor="ctr"/>
            <a:lstStyle/>
            <a:p>
              <a:pPr algn="ctr" defTabSz="457200" latinLnBrk="0"/>
              <a:r>
                <a:rPr lang="en-US" altLang="ko-KR" sz="1000" b="1" dirty="0" err="1">
                  <a:latin typeface="+mn-ea"/>
                </a:rPr>
                <a:t>Igs</a:t>
              </a:r>
              <a:r>
                <a:rPr lang="en-US" altLang="ko-KR" sz="1000" b="1" dirty="0">
                  <a:latin typeface="+mn-ea"/>
                </a:rPr>
                <a:t> </a:t>
              </a:r>
              <a:r>
                <a:rPr lang="ko-KR" altLang="en-US" sz="1000" b="1" dirty="0" err="1">
                  <a:latin typeface="+mn-ea"/>
                </a:rPr>
                <a:t>파일포맷</a:t>
              </a:r>
              <a:r>
                <a:rPr lang="en-US" altLang="ko-KR" sz="1000" b="1" dirty="0">
                  <a:latin typeface="+mn-ea"/>
                </a:rPr>
                <a:t>(</a:t>
              </a:r>
              <a:r>
                <a:rPr lang="ko-KR" altLang="en-US" sz="1000" b="1" dirty="0">
                  <a:latin typeface="+mn-ea"/>
                </a:rPr>
                <a:t>형식</a:t>
              </a:r>
              <a:r>
                <a:rPr lang="en-US" altLang="ko-KR" sz="1000" b="1" dirty="0">
                  <a:latin typeface="+mn-ea"/>
                </a:rPr>
                <a:t>)</a:t>
              </a:r>
              <a:r>
                <a:rPr lang="ko-KR" altLang="en-US" sz="1000" b="1" dirty="0">
                  <a:latin typeface="+mn-ea"/>
                </a:rPr>
                <a:t>의 분석</a:t>
              </a:r>
              <a:endParaRPr lang="en-US" altLang="ko-KR" sz="1000" b="1" dirty="0">
                <a:latin typeface="+mn-ea"/>
              </a:endParaRP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DA59F9CF-9FAD-7A8F-5EDE-1D9E13B4FD31}"/>
              </a:ext>
            </a:extLst>
          </p:cNvPr>
          <p:cNvGrpSpPr/>
          <p:nvPr/>
        </p:nvGrpSpPr>
        <p:grpSpPr>
          <a:xfrm>
            <a:off x="5143237" y="1486381"/>
            <a:ext cx="1902289" cy="3177093"/>
            <a:chOff x="415745" y="1453189"/>
            <a:chExt cx="1902289" cy="2061503"/>
          </a:xfrm>
        </p:grpSpPr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8A837FEE-9889-AA3A-147D-21D0849567E7}"/>
                </a:ext>
              </a:extLst>
            </p:cNvPr>
            <p:cNvSpPr/>
            <p:nvPr/>
          </p:nvSpPr>
          <p:spPr bwMode="auto">
            <a:xfrm>
              <a:off x="415745" y="1830127"/>
              <a:ext cx="1902289" cy="168456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36000" tIns="180000" rIns="36000" bIns="36000" anchor="t" anchorCtr="0"/>
            <a:lstStyle/>
            <a:p>
              <a:pPr marL="171450" indent="-171450" defTabSz="457200" latinLnBrk="0">
                <a:buFont typeface="Arial" panose="020B0604020202020204" pitchFamily="34" charset="0"/>
                <a:buChar char="•"/>
                <a:defRPr/>
              </a:pP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보정된 시작점과 </a:t>
              </a:r>
              <a:r>
                <a:rPr lang="ko-KR" altLang="en-US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종료점기준으로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1,000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개의 </a:t>
              </a:r>
              <a:r>
                <a:rPr lang="ko-KR" altLang="en-US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등간격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표준데이터로 </a:t>
              </a:r>
              <a:r>
                <a:rPr lang="ko-KR" altLang="en-US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위치값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변환 </a:t>
              </a:r>
            </a:p>
            <a:p>
              <a:pPr defTabSz="457200" latinLnBrk="0">
                <a:defRPr/>
              </a:pP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  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전체적인   나선구조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topology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가 변하지 않는 단순데이터 변환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</a:p>
            <a:p>
              <a:pPr marL="171450" indent="-171450" defTabSz="457200" latinLnBrk="0">
                <a:buFont typeface="Arial" panose="020B0604020202020204" pitchFamily="34" charset="0"/>
                <a:buChar char="•"/>
                <a:defRPr/>
              </a:pPr>
              <a:endParaRPr lang="en-US" altLang="ko-KR" sz="10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171450" indent="-171450" defTabSz="457200" latinLnBrk="0">
                <a:buFont typeface="Arial" panose="020B0604020202020204" pitchFamily="34" charset="0"/>
                <a:buChar char="•"/>
                <a:defRPr/>
              </a:pP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보정 </a:t>
              </a:r>
              <a:r>
                <a:rPr lang="ko-KR" altLang="en-US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직교좌표계와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원통좌표계의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기준점 선정</a:t>
              </a:r>
              <a:endParaRPr lang="en-US" altLang="ko-KR" sz="10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defTabSz="457200" latinLnBrk="0">
                <a:defRPr/>
              </a:pPr>
              <a:endParaRPr lang="en-US" altLang="ko-KR" sz="10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defTabSz="457200" latinLnBrk="0">
                <a:defRPr/>
              </a:pPr>
              <a:endParaRPr lang="ko-KR" altLang="en-US" sz="800" dirty="0">
                <a:solidFill>
                  <a:prstClr val="black"/>
                </a:solidFill>
                <a:latin typeface="맑은 고딕" pitchFamily="50" charset="-127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235BDAFE-766B-6C3E-21C8-0CABF44EB65B}"/>
                </a:ext>
              </a:extLst>
            </p:cNvPr>
            <p:cNvSpPr/>
            <p:nvPr/>
          </p:nvSpPr>
          <p:spPr bwMode="auto">
            <a:xfrm>
              <a:off x="415745" y="1453189"/>
              <a:ext cx="1902289" cy="37340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90000" tIns="46800" rIns="90000" bIns="46800" anchor="ctr"/>
            <a:lstStyle/>
            <a:p>
              <a:pPr algn="ctr" defTabSz="457200" latinLnBrk="0"/>
              <a:r>
                <a:rPr lang="ko-KR" altLang="en-US" sz="1000" b="1" dirty="0">
                  <a:latin typeface="+mn-ea"/>
                </a:rPr>
                <a:t>점데이터 표준화</a:t>
              </a:r>
              <a:r>
                <a:rPr lang="en-US" altLang="ko-KR" sz="1000" b="1" dirty="0">
                  <a:latin typeface="+mn-ea"/>
                </a:rPr>
                <a:t>(Normalization)</a:t>
              </a: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FA8E33CF-FAFC-64EA-C7E7-FC9C0169A56E}"/>
              </a:ext>
            </a:extLst>
          </p:cNvPr>
          <p:cNvGrpSpPr/>
          <p:nvPr/>
        </p:nvGrpSpPr>
        <p:grpSpPr>
          <a:xfrm>
            <a:off x="2871384" y="1486381"/>
            <a:ext cx="1902289" cy="3177093"/>
            <a:chOff x="415745" y="1453189"/>
            <a:chExt cx="1902289" cy="2061503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FA14548F-A7BA-3776-4178-6C200D331F87}"/>
                </a:ext>
              </a:extLst>
            </p:cNvPr>
            <p:cNvSpPr/>
            <p:nvPr/>
          </p:nvSpPr>
          <p:spPr bwMode="auto">
            <a:xfrm>
              <a:off x="415745" y="1830127"/>
              <a:ext cx="1902289" cy="168456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36000" tIns="180000" rIns="36000" bIns="36000" anchor="t" anchorCtr="0">
              <a:noAutofit/>
            </a:bodyPr>
            <a:lstStyle/>
            <a:p>
              <a:pPr marL="171450" indent="-171450" defTabSz="457200" latinLnBrk="0">
                <a:buFont typeface="Arial" panose="020B0604020202020204" pitchFamily="34" charset="0"/>
                <a:buChar char="•"/>
                <a:defRPr/>
              </a:pP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원시 점데이터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en-US" altLang="ko-KR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igs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로 나선형 곡률이 </a:t>
              </a:r>
              <a:r>
                <a:rPr lang="ko-KR" altLang="en-US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스무스하게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유지되는 시작점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(Point)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와 </a:t>
              </a:r>
              <a:r>
                <a:rPr lang="ko-KR" altLang="en-US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종료점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위치보정</a:t>
              </a:r>
            </a:p>
            <a:p>
              <a:pPr defTabSz="457200" latinLnBrk="0">
                <a:defRPr/>
              </a:pP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  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일부 튀는 시작점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/</a:t>
              </a:r>
              <a:r>
                <a:rPr lang="ko-KR" altLang="en-US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종료점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데이터만 보정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</a:p>
            <a:p>
              <a:pPr defTabSz="457200" latinLnBrk="0">
                <a:defRPr/>
              </a:pPr>
              <a:endParaRPr lang="en-US" altLang="ko-KR" sz="10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171450" indent="-171450" defTabSz="457200" latinLnBrk="0">
                <a:buFont typeface="Arial" panose="020B0604020202020204" pitchFamily="34" charset="0"/>
                <a:buChar char="•"/>
                <a:defRPr/>
              </a:pP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원시 점데이터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en-US" altLang="ko-KR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igs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로 나선형 곡률이 </a:t>
              </a:r>
              <a:r>
                <a:rPr lang="ko-KR" altLang="en-US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스무스하게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유지구성되도록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중간점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(Point) 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위치보정</a:t>
              </a:r>
            </a:p>
            <a:p>
              <a:pPr defTabSz="457200" latinLnBrk="0">
                <a:defRPr/>
              </a:pP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  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일부 튀는 중간데이터만 보정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CE07121D-3918-BCEA-295E-95692144BC32}"/>
                </a:ext>
              </a:extLst>
            </p:cNvPr>
            <p:cNvSpPr/>
            <p:nvPr/>
          </p:nvSpPr>
          <p:spPr bwMode="auto">
            <a:xfrm>
              <a:off x="415745" y="1453189"/>
              <a:ext cx="1902289" cy="37340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90000" tIns="46800" rIns="90000" bIns="46800" anchor="ctr"/>
            <a:lstStyle/>
            <a:p>
              <a:pPr algn="ctr" defTabSz="457200" latinLnBrk="0"/>
              <a:r>
                <a:rPr lang="ko-KR" altLang="en-US" sz="1000" b="1" dirty="0">
                  <a:latin typeface="+mn-ea"/>
                </a:rPr>
                <a:t>곡률기준 보정</a:t>
              </a:r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10679926-4C89-A375-939D-17A0AABA50B4}"/>
              </a:ext>
            </a:extLst>
          </p:cNvPr>
          <p:cNvGrpSpPr/>
          <p:nvPr/>
        </p:nvGrpSpPr>
        <p:grpSpPr>
          <a:xfrm>
            <a:off x="9686942" y="1486381"/>
            <a:ext cx="1902289" cy="3177093"/>
            <a:chOff x="415745" y="1453189"/>
            <a:chExt cx="1902289" cy="2061503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4341EC5F-1ED7-A095-ADAD-846D94CFBAB8}"/>
                </a:ext>
              </a:extLst>
            </p:cNvPr>
            <p:cNvSpPr/>
            <p:nvPr/>
          </p:nvSpPr>
          <p:spPr bwMode="auto">
            <a:xfrm>
              <a:off x="415745" y="1830127"/>
              <a:ext cx="1902289" cy="168456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36000" tIns="180000" rIns="36000" bIns="36000" anchor="t" anchorCtr="0"/>
            <a:lstStyle/>
            <a:p>
              <a:pPr marL="171450" indent="-171450" defTabSz="457200" latinLnBrk="0">
                <a:buFont typeface="Arial" panose="020B0604020202020204" pitchFamily="34" charset="0"/>
                <a:buChar char="•"/>
                <a:defRPr/>
              </a:pPr>
              <a:r>
                <a:rPr lang="ko-KR" altLang="en-US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원통좌표계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데이터에서 </a:t>
              </a:r>
              <a:r>
                <a:rPr lang="en-US" altLang="ko-KR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Turn,Radius,Diameter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(Perpendicular),Diameter(Vectorial),</a:t>
              </a:r>
              <a:r>
                <a:rPr lang="en-US" altLang="ko-KR" sz="10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Height,Pitch,min_Pitch</a:t>
              </a:r>
              <a:r>
                <a:rPr lang="en-US" altLang="ko-KR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등</a:t>
              </a:r>
              <a:endParaRPr lang="en-US" altLang="ko-KR" sz="10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defTabSz="457200" latinLnBrk="0">
                <a:defRPr/>
              </a:pPr>
              <a:r>
                <a:rPr lang="ko-KR" altLang="en-US" sz="10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   결과치를 산출</a:t>
              </a:r>
              <a:endParaRPr lang="en-US" altLang="ko-KR" sz="10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defTabSz="457200" latinLnBrk="0">
                <a:defRPr/>
              </a:pPr>
              <a:endParaRPr lang="ko-KR" altLang="en-US" sz="800" dirty="0">
                <a:solidFill>
                  <a:prstClr val="black"/>
                </a:solidFill>
                <a:latin typeface="맑은 고딕" pitchFamily="50" charset="-127"/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AD5A6628-542D-83CF-1D6F-C94F66492995}"/>
                </a:ext>
              </a:extLst>
            </p:cNvPr>
            <p:cNvSpPr/>
            <p:nvPr/>
          </p:nvSpPr>
          <p:spPr bwMode="auto">
            <a:xfrm>
              <a:off x="415745" y="1453189"/>
              <a:ext cx="1902289" cy="37340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90000" tIns="46800" rIns="90000" bIns="46800" anchor="ctr"/>
            <a:lstStyle/>
            <a:p>
              <a:pPr algn="ctr" defTabSz="457200" latinLnBrk="0"/>
              <a:r>
                <a:rPr lang="ko-KR" altLang="en-US" sz="1000" b="1" dirty="0">
                  <a:latin typeface="+mn-ea"/>
                </a:rPr>
                <a:t>계산결과 산출</a:t>
              </a:r>
            </a:p>
          </p:txBody>
        </p:sp>
      </p:grpSp>
      <p:cxnSp>
        <p:nvCxnSpPr>
          <p:cNvPr id="90" name="꺾인 연결선 124">
            <a:extLst>
              <a:ext uri="{FF2B5EF4-FFF2-40B4-BE49-F238E27FC236}">
                <a16:creationId xmlns:a16="http://schemas.microsoft.com/office/drawing/2014/main" id="{AE141F0B-BE28-2C0D-9B8E-21FA55E65DA1}"/>
              </a:ext>
            </a:extLst>
          </p:cNvPr>
          <p:cNvCxnSpPr>
            <a:cxnSpLocks/>
            <a:stCxn id="164" idx="1"/>
            <a:endCxn id="158" idx="3"/>
          </p:cNvCxnSpPr>
          <p:nvPr/>
        </p:nvCxnSpPr>
        <p:spPr>
          <a:xfrm flipH="1">
            <a:off x="2501821" y="3365387"/>
            <a:ext cx="369563" cy="0"/>
          </a:xfrm>
          <a:prstGeom prst="straightConnector1">
            <a:avLst/>
          </a:prstGeom>
          <a:ln>
            <a:solidFill>
              <a:srgbClr val="0070C0"/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124">
            <a:extLst>
              <a:ext uri="{FF2B5EF4-FFF2-40B4-BE49-F238E27FC236}">
                <a16:creationId xmlns:a16="http://schemas.microsoft.com/office/drawing/2014/main" id="{9AE2F5AD-14CC-8309-B2B2-EFD8EA6E5317}"/>
              </a:ext>
            </a:extLst>
          </p:cNvPr>
          <p:cNvCxnSpPr>
            <a:cxnSpLocks/>
            <a:stCxn id="118" idx="1"/>
            <a:endCxn id="161" idx="3"/>
          </p:cNvCxnSpPr>
          <p:nvPr/>
        </p:nvCxnSpPr>
        <p:spPr>
          <a:xfrm flipH="1">
            <a:off x="7045526" y="3365387"/>
            <a:ext cx="369564" cy="0"/>
          </a:xfrm>
          <a:prstGeom prst="straightConnector1">
            <a:avLst/>
          </a:prstGeom>
          <a:ln>
            <a:solidFill>
              <a:srgbClr val="0070C0"/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124">
            <a:extLst>
              <a:ext uri="{FF2B5EF4-FFF2-40B4-BE49-F238E27FC236}">
                <a16:creationId xmlns:a16="http://schemas.microsoft.com/office/drawing/2014/main" id="{D7DD6573-1015-5744-0AF9-1E5EBA977B4A}"/>
              </a:ext>
            </a:extLst>
          </p:cNvPr>
          <p:cNvCxnSpPr>
            <a:cxnSpLocks/>
            <a:stCxn id="161" idx="1"/>
            <a:endCxn id="164" idx="3"/>
          </p:cNvCxnSpPr>
          <p:nvPr/>
        </p:nvCxnSpPr>
        <p:spPr>
          <a:xfrm flipH="1">
            <a:off x="4773673" y="3365387"/>
            <a:ext cx="369564" cy="0"/>
          </a:xfrm>
          <a:prstGeom prst="straightConnector1">
            <a:avLst/>
          </a:prstGeom>
          <a:ln>
            <a:solidFill>
              <a:srgbClr val="0070C0"/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꺾인 연결선 124">
            <a:extLst>
              <a:ext uri="{FF2B5EF4-FFF2-40B4-BE49-F238E27FC236}">
                <a16:creationId xmlns:a16="http://schemas.microsoft.com/office/drawing/2014/main" id="{9012418F-DF34-B2AA-12F9-ADD9F6A4702A}"/>
              </a:ext>
            </a:extLst>
          </p:cNvPr>
          <p:cNvCxnSpPr>
            <a:cxnSpLocks/>
            <a:stCxn id="167" idx="1"/>
            <a:endCxn id="118" idx="3"/>
          </p:cNvCxnSpPr>
          <p:nvPr/>
        </p:nvCxnSpPr>
        <p:spPr>
          <a:xfrm flipH="1">
            <a:off x="9317379" y="3365387"/>
            <a:ext cx="369563" cy="0"/>
          </a:xfrm>
          <a:prstGeom prst="straightConnector1">
            <a:avLst/>
          </a:prstGeom>
          <a:ln>
            <a:solidFill>
              <a:srgbClr val="0070C0"/>
            </a:solidFill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B8726DA1-B8EC-E4CF-C2AC-302C89AC5D6B}"/>
              </a:ext>
            </a:extLst>
          </p:cNvPr>
          <p:cNvSpPr/>
          <p:nvPr/>
        </p:nvSpPr>
        <p:spPr>
          <a:xfrm>
            <a:off x="9772658" y="2061849"/>
            <a:ext cx="1730856" cy="13671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TO_BE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7695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5A932-A829-40EF-08DF-C6AB76AB7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D24D8EE0-1FFD-02C6-E808-43B8404A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47F8208-828E-076B-C950-7243130BDD2E}"/>
              </a:ext>
            </a:extLst>
          </p:cNvPr>
          <p:cNvGrpSpPr/>
          <p:nvPr/>
        </p:nvGrpSpPr>
        <p:grpSpPr>
          <a:xfrm>
            <a:off x="342898" y="2751453"/>
            <a:ext cx="11801630" cy="4221878"/>
            <a:chOff x="342899" y="236753"/>
            <a:chExt cx="11094556" cy="42218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A0B97D-D8C5-9F24-2EB8-6529D1FD8AB8}"/>
                </a:ext>
              </a:extLst>
            </p:cNvPr>
            <p:cNvSpPr txBox="1"/>
            <p:nvPr/>
          </p:nvSpPr>
          <p:spPr>
            <a:xfrm>
              <a:off x="342900" y="919201"/>
              <a:ext cx="11094555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원시 점데이터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en-US" altLang="ko-KR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igs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에서 나선형 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곡률이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스무스하게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구성되도록 양끝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주변점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(Point)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들을 찾아서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위치보정한다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</a:t>
              </a:r>
            </a:p>
            <a:p>
              <a:r>
                <a:rPr lang="en-US" altLang="ko-KR" sz="1600" dirty="0">
                  <a:latin typeface="맑은 고딕" panose="020B0503020000020004" pitchFamily="50" charset="-127"/>
                </a:rPr>
                <a:t>     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일부 튀는 양끝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주변점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데이터들만 보정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원시 점데이터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en-US" altLang="ko-KR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igs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에서 나선형 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곡률이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스무스하게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구성되도록 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중간 점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(Point)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들 </a:t>
              </a: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위치보정한다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.</a:t>
              </a:r>
            </a:p>
            <a:p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    (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일부 튀는 중간데이터들만 보정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기준좌표의 선정은 원통형 </a:t>
              </a: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양단중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지름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(r*2)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값이 최소인 면을 기준으로 </a:t>
              </a: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좌표계기준의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시작점으로 선정한다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직교좌표과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원통좌표는 동일한 원점으로 일치시킨다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.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 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좌표계기준점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선정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기준점에서 보정시작점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기준점에서 선데이터를 따라서 거의 혹은 완벽히 수평으로 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en-US" altLang="ko-KR" sz="1600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180</a:t>
              </a: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도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되는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위치점</a:t>
              </a:r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   (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해당 포인트데이터가 없는 경우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보간법을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이용해서 가상의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위치점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선정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까지 반지름 길이가 동일한 중심점</a:t>
              </a:r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보정된 시작점과 </a:t>
              </a: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종료점기준으로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1,000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개의 </a:t>
              </a: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등간격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표준데이터로 위치변환 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    (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전체적인 나선구조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topology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가 변하지 않는 단순 데이터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Normalization)</a:t>
              </a:r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* </a:t>
              </a:r>
              <a:r>
                <a:rPr lang="ko-KR" altLang="en-US" sz="1600" dirty="0" err="1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보간법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 적용규칙</a:t>
              </a:r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: 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해당 위치에 점</a:t>
              </a:r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포인트</a:t>
              </a:r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) 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데이터가 없는 경우 인접한 </a:t>
              </a:r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2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점의 위치정보로 </a:t>
              </a:r>
              <a:r>
                <a:rPr lang="ko-KR" altLang="en-US" sz="1600" dirty="0" err="1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보간하여</a:t>
              </a:r>
              <a:endParaRPr lang="en-US" altLang="ko-KR" sz="1600" dirty="0">
                <a:solidFill>
                  <a:srgbClr val="0070C0"/>
                </a:solidFill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  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가상의 점</a:t>
              </a:r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포인트</a:t>
              </a:r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) 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위치 데이터로 산출</a:t>
              </a:r>
              <a:endParaRPr lang="en-US" altLang="ko-KR" sz="1600" dirty="0">
                <a:solidFill>
                  <a:srgbClr val="0070C0"/>
                </a:solidFill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endParaRPr lang="en-US" altLang="ko-KR" sz="1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</p:txBody>
        </p:sp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3350FE5C-F369-9EB0-2F51-A9FBBDC4E5C0}"/>
                </a:ext>
              </a:extLst>
            </p:cNvPr>
            <p:cNvSpPr txBox="1">
              <a:spLocks/>
            </p:cNvSpPr>
            <p:nvPr/>
          </p:nvSpPr>
          <p:spPr>
            <a:xfrm>
              <a:off x="342899" y="236753"/>
              <a:ext cx="9144000" cy="56207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ko-KR" altLang="en-US" sz="2800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스프링 좌표기준점의 선정방법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F327F2A-A7A8-B8F5-6548-8F44E0FD5AB0}"/>
              </a:ext>
            </a:extLst>
          </p:cNvPr>
          <p:cNvGrpSpPr/>
          <p:nvPr/>
        </p:nvGrpSpPr>
        <p:grpSpPr>
          <a:xfrm>
            <a:off x="342898" y="549479"/>
            <a:ext cx="11208399" cy="1987016"/>
            <a:chOff x="342899" y="2646222"/>
            <a:chExt cx="9144000" cy="19870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50EF016-BECD-193D-FCDE-33B317AAFE94}"/>
                </a:ext>
              </a:extLst>
            </p:cNvPr>
            <p:cNvSpPr txBox="1"/>
            <p:nvPr/>
          </p:nvSpPr>
          <p:spPr>
            <a:xfrm>
              <a:off x="342900" y="3279021"/>
              <a:ext cx="8982878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altLang="ko-KR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Igs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파일포맷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형식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의 분석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시작점과 종료점의 구분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</a:p>
            <a:p>
              <a:pPr marL="342900" indent="-342900">
                <a:buAutoNum type="arabicPeriod"/>
              </a:pP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나선형 포인트데이터를 곡률기준으로 보정</a:t>
              </a:r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AutoNum type="arabicPeriod"/>
              </a:pP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점데이터 표준화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(Normalization)</a:t>
              </a:r>
            </a:p>
            <a:p>
              <a:pPr marL="342900" indent="-342900">
                <a:buAutoNum type="arabicPeriod"/>
              </a:pP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직교좌표계를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원통형좌표계로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변환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en-US" altLang="ko-KR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xyz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-&gt; </a:t>
              </a:r>
              <a:r>
                <a:rPr lang="en-US" altLang="ko-KR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r</a:t>
              </a:r>
              <a:r>
                <a:rPr lang="en-US" altLang="ko-KR" sz="1600" b="1" dirty="0" err="1">
                  <a:latin typeface="+mn-ea"/>
                </a:rPr>
                <a:t>θ</a:t>
              </a:r>
              <a:r>
                <a:rPr lang="en-US" altLang="ko-KR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z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</a:p>
            <a:p>
              <a:pPr marL="342900" indent="-342900">
                <a:buAutoNum type="arabicPeriod"/>
              </a:pP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계산결과 산출</a:t>
              </a:r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</p:txBody>
        </p:sp>
        <p:sp>
          <p:nvSpPr>
            <p:cNvPr id="10" name="제목 1">
              <a:extLst>
                <a:ext uri="{FF2B5EF4-FFF2-40B4-BE49-F238E27FC236}">
                  <a16:creationId xmlns:a16="http://schemas.microsoft.com/office/drawing/2014/main" id="{1631D25E-3EA0-CC89-AA6F-E3BF2B0D385A}"/>
                </a:ext>
              </a:extLst>
            </p:cNvPr>
            <p:cNvSpPr txBox="1">
              <a:spLocks/>
            </p:cNvSpPr>
            <p:nvPr/>
          </p:nvSpPr>
          <p:spPr>
            <a:xfrm>
              <a:off x="342899" y="2646222"/>
              <a:ext cx="9144000" cy="56207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ko-KR" altLang="en-US" sz="2800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 처리프로세스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8181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B686C-D757-D2E7-7805-F688C1AD0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6E01559A-4FB7-F0F1-D860-897349F3B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8DD0BD8-1FAC-1D66-A9C5-03F33DF78CB1}"/>
              </a:ext>
            </a:extLst>
          </p:cNvPr>
          <p:cNvGrpSpPr/>
          <p:nvPr/>
        </p:nvGrpSpPr>
        <p:grpSpPr>
          <a:xfrm>
            <a:off x="391389" y="472381"/>
            <a:ext cx="10374582" cy="2192999"/>
            <a:chOff x="342899" y="236753"/>
            <a:chExt cx="9753009" cy="240095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3F357F-FF0A-2A87-870D-0482703905C5}"/>
                </a:ext>
              </a:extLst>
            </p:cNvPr>
            <p:cNvSpPr txBox="1"/>
            <p:nvPr/>
          </p:nvSpPr>
          <p:spPr>
            <a:xfrm>
              <a:off x="342900" y="919202"/>
              <a:ext cx="9753008" cy="1718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계산결과 엑셀파일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(TK1.xlsx) 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작성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산출시트명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: zero-1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산출시트헤더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: 1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행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산출시트데이터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: 2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행부터 시작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산출시트에 컬럼명에 맞게 시작점부터 종료점까지 순서대로 </a:t>
              </a: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데이터값을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설정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산출시트 작성시에는 아래의 </a:t>
              </a:r>
              <a:r>
                <a:rPr lang="ko-KR" altLang="en-US" sz="1600" b="1" dirty="0" err="1">
                  <a:solidFill>
                    <a:schemeClr val="tx2"/>
                  </a:solidFill>
                  <a:latin typeface="맑은 고딕" panose="020B0503020000020004" pitchFamily="50" charset="-127"/>
                </a:rPr>
                <a:t>컬럼매핑의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컬럼헤더기준으로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데이터값들만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초기화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삭제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후 작성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</p:txBody>
        </p:sp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9DCE6689-25C2-C8E1-6F1A-41946598BAA4}"/>
                </a:ext>
              </a:extLst>
            </p:cNvPr>
            <p:cNvSpPr txBox="1">
              <a:spLocks/>
            </p:cNvSpPr>
            <p:nvPr/>
          </p:nvSpPr>
          <p:spPr>
            <a:xfrm>
              <a:off x="342899" y="236753"/>
              <a:ext cx="9144000" cy="56207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ko-KR" altLang="en-US" sz="2800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계산결과</a:t>
              </a:r>
              <a:r>
                <a:rPr lang="en-US" altLang="ko-KR" sz="2800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2800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엑셀파일작성</a:t>
              </a: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EE9C658-822C-2C9B-A737-F37C206FD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205975"/>
              </p:ext>
            </p:extLst>
          </p:nvPr>
        </p:nvGraphicFramePr>
        <p:xfrm>
          <a:off x="573584" y="3536302"/>
          <a:ext cx="5747659" cy="2676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708">
                  <a:extLst>
                    <a:ext uri="{9D8B030D-6E8A-4147-A177-3AD203B41FA5}">
                      <a16:colId xmlns:a16="http://schemas.microsoft.com/office/drawing/2014/main" val="1747191394"/>
                    </a:ext>
                  </a:extLst>
                </a:gridCol>
                <a:gridCol w="1123741">
                  <a:extLst>
                    <a:ext uri="{9D8B030D-6E8A-4147-A177-3AD203B41FA5}">
                      <a16:colId xmlns:a16="http://schemas.microsoft.com/office/drawing/2014/main" val="2247350671"/>
                    </a:ext>
                  </a:extLst>
                </a:gridCol>
                <a:gridCol w="1703601">
                  <a:extLst>
                    <a:ext uri="{9D8B030D-6E8A-4147-A177-3AD203B41FA5}">
                      <a16:colId xmlns:a16="http://schemas.microsoft.com/office/drawing/2014/main" val="1715674512"/>
                    </a:ext>
                  </a:extLst>
                </a:gridCol>
                <a:gridCol w="2103609">
                  <a:extLst>
                    <a:ext uri="{9D8B030D-6E8A-4147-A177-3AD203B41FA5}">
                      <a16:colId xmlns:a16="http://schemas.microsoft.com/office/drawing/2014/main" val="3147633710"/>
                    </a:ext>
                  </a:extLst>
                </a:gridCol>
              </a:tblGrid>
              <a:tr h="248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Column</a:t>
                      </a:r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column header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 err="1">
                          <a:effectLst/>
                          <a:latin typeface="+mn-ea"/>
                          <a:ea typeface="+mn-ea"/>
                        </a:rPr>
                        <a:t>설정값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366496"/>
                  </a:ext>
                </a:extLst>
              </a:tr>
              <a:tr h="248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  <a:latin typeface="+mn-ea"/>
                          <a:ea typeface="+mn-ea"/>
                        </a:rPr>
                        <a:t>순번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140057"/>
                  </a:ext>
                </a:extLst>
              </a:tr>
              <a:tr h="248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x </a:t>
                      </a:r>
                      <a:r>
                        <a:rPr lang="ko-KR" altLang="en-US" sz="1100" b="1" u="none" strike="noStrike" dirty="0" err="1">
                          <a:effectLst/>
                          <a:latin typeface="+mn-ea"/>
                          <a:ea typeface="+mn-ea"/>
                        </a:rPr>
                        <a:t>좌표값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원시 직교좌표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677804"/>
                  </a:ext>
                </a:extLst>
              </a:tr>
              <a:tr h="248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y</a:t>
                      </a:r>
                      <a:r>
                        <a:rPr lang="ko-KR" altLang="en-US" sz="1100" b="1" u="none" strike="noStrike" dirty="0" err="1">
                          <a:effectLst/>
                          <a:latin typeface="+mn-ea"/>
                          <a:ea typeface="+mn-ea"/>
                        </a:rPr>
                        <a:t>좌표값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256568"/>
                  </a:ext>
                </a:extLst>
              </a:tr>
              <a:tr h="248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z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z</a:t>
                      </a:r>
                      <a:r>
                        <a:rPr lang="ko-KR" altLang="en-US" sz="1100" b="1" u="none" strike="noStrike" dirty="0" err="1">
                          <a:effectLst/>
                          <a:latin typeface="+mn-ea"/>
                          <a:ea typeface="+mn-ea"/>
                        </a:rPr>
                        <a:t>좌표값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578674"/>
                  </a:ext>
                </a:extLst>
              </a:tr>
              <a:tr h="248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x_std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lang="ko-KR" altLang="en-US" sz="1100" b="1" u="none" strike="noStrike" dirty="0" err="1">
                          <a:effectLst/>
                          <a:latin typeface="+mn-ea"/>
                          <a:ea typeface="+mn-ea"/>
                        </a:rPr>
                        <a:t>보정좌표값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보정 직교좌표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ea"/>
                        <a:ea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데이터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1,000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개로 표준화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026414"/>
                  </a:ext>
                </a:extLst>
              </a:tr>
              <a:tr h="248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 err="1">
                          <a:effectLst/>
                          <a:latin typeface="+mn-ea"/>
                          <a:ea typeface="+mn-ea"/>
                        </a:rPr>
                        <a:t>y_std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y</a:t>
                      </a:r>
                      <a:r>
                        <a:rPr lang="ko-KR" altLang="en-US" sz="1100" b="1" u="none" strike="noStrike" dirty="0" err="1">
                          <a:effectLst/>
                          <a:latin typeface="+mn-ea"/>
                          <a:ea typeface="+mn-ea"/>
                        </a:rPr>
                        <a:t>보정좌표값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573232"/>
                  </a:ext>
                </a:extLst>
              </a:tr>
              <a:tr h="248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z_std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z </a:t>
                      </a:r>
                      <a:r>
                        <a:rPr lang="ko-KR" altLang="en-US" sz="1100" b="1" u="none" strike="noStrike" dirty="0" err="1">
                          <a:effectLst/>
                          <a:latin typeface="+mn-ea"/>
                          <a:ea typeface="+mn-ea"/>
                        </a:rPr>
                        <a:t>보정좌표값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399045"/>
                  </a:ext>
                </a:extLst>
              </a:tr>
              <a:tr h="248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H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 err="1">
                          <a:effectLst/>
                          <a:latin typeface="+mn-ea"/>
                          <a:ea typeface="+mn-ea"/>
                        </a:rPr>
                        <a:t>반지름값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원통좌표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783585"/>
                  </a:ext>
                </a:extLst>
              </a:tr>
              <a:tr h="1887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I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l-GR" sz="1100" b="1" u="none" strike="noStrike">
                          <a:effectLst/>
                          <a:latin typeface="+mn-ea"/>
                          <a:ea typeface="+mn-ea"/>
                        </a:rPr>
                        <a:t>θ</a:t>
                      </a:r>
                      <a:endParaRPr lang="el-GR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l-GR" sz="1100" b="1" u="none" strike="noStrike">
                          <a:effectLst/>
                          <a:latin typeface="+mn-ea"/>
                          <a:ea typeface="+mn-ea"/>
                        </a:rPr>
                        <a:t>θ</a:t>
                      </a:r>
                      <a:r>
                        <a:rPr lang="ko-KR" altLang="en-US" sz="1100" b="1" u="none" strike="noStrike">
                          <a:effectLst/>
                          <a:latin typeface="+mn-ea"/>
                          <a:ea typeface="+mn-ea"/>
                        </a:rPr>
                        <a:t>좌표값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971918"/>
                  </a:ext>
                </a:extLst>
              </a:tr>
              <a:tr h="248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J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Z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Z</a:t>
                      </a:r>
                      <a:r>
                        <a:rPr lang="ko-KR" altLang="en-US" sz="1100" b="1" u="none" strike="noStrike" dirty="0" err="1">
                          <a:effectLst/>
                          <a:latin typeface="+mn-ea"/>
                          <a:ea typeface="+mn-ea"/>
                        </a:rPr>
                        <a:t>좌표값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287945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392B7E10-E4C7-D3A7-6B55-A750A2AA5F32}"/>
              </a:ext>
            </a:extLst>
          </p:cNvPr>
          <p:cNvSpPr txBox="1">
            <a:spLocks/>
          </p:cNvSpPr>
          <p:nvPr/>
        </p:nvSpPr>
        <p:spPr>
          <a:xfrm>
            <a:off x="391389" y="2997015"/>
            <a:ext cx="9726762" cy="5620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>
                <a:solidFill>
                  <a:schemeClr val="tx2"/>
                </a:solidFill>
                <a:latin typeface="맑은 고딕" panose="020B0503020000020004" pitchFamily="50" charset="-127"/>
              </a:rPr>
              <a:t>산출시트의 </a:t>
            </a:r>
            <a:r>
              <a:rPr lang="ko-KR" altLang="en-US" sz="2800" b="1" dirty="0" err="1">
                <a:solidFill>
                  <a:schemeClr val="tx2"/>
                </a:solidFill>
                <a:latin typeface="맑은 고딕" panose="020B0503020000020004" pitchFamily="50" charset="-127"/>
              </a:rPr>
              <a:t>컬럼매핑</a:t>
            </a:r>
            <a:r>
              <a:rPr lang="ko-KR" altLang="en-US" sz="2800" b="1" dirty="0">
                <a:solidFill>
                  <a:schemeClr val="tx2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800" b="1" dirty="0" err="1">
                <a:solidFill>
                  <a:schemeClr val="tx2"/>
                </a:solidFill>
                <a:latin typeface="맑은 고딕" panose="020B0503020000020004" pitchFamily="50" charset="-127"/>
              </a:rPr>
              <a:t>데이터값</a:t>
            </a:r>
            <a:r>
              <a:rPr lang="ko-KR" altLang="en-US" sz="2800" b="1" dirty="0">
                <a:solidFill>
                  <a:schemeClr val="tx2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8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</a:t>
            </a:r>
          </a:p>
        </p:txBody>
      </p:sp>
    </p:spTree>
    <p:extLst>
      <p:ext uri="{BB962C8B-B14F-4D97-AF65-F5344CB8AC3E}">
        <p14:creationId xmlns:p14="http://schemas.microsoft.com/office/powerpoint/2010/main" val="2796116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1675C05-F198-6CBB-1981-61F1F51B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/>
              <a:t>15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E8309AF-CE94-42D0-0E66-2A5941B55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668492"/>
              </p:ext>
            </p:extLst>
          </p:nvPr>
        </p:nvGraphicFramePr>
        <p:xfrm>
          <a:off x="245706" y="136525"/>
          <a:ext cx="11700588" cy="838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1309">
                  <a:extLst>
                    <a:ext uri="{9D8B030D-6E8A-4147-A177-3AD203B41FA5}">
                      <a16:colId xmlns:a16="http://schemas.microsoft.com/office/drawing/2014/main" val="1747191394"/>
                    </a:ext>
                  </a:extLst>
                </a:gridCol>
                <a:gridCol w="1048099">
                  <a:extLst>
                    <a:ext uri="{9D8B030D-6E8A-4147-A177-3AD203B41FA5}">
                      <a16:colId xmlns:a16="http://schemas.microsoft.com/office/drawing/2014/main" val="2247350671"/>
                    </a:ext>
                  </a:extLst>
                </a:gridCol>
                <a:gridCol w="2715527">
                  <a:extLst>
                    <a:ext uri="{9D8B030D-6E8A-4147-A177-3AD203B41FA5}">
                      <a16:colId xmlns:a16="http://schemas.microsoft.com/office/drawing/2014/main" val="1715674512"/>
                    </a:ext>
                  </a:extLst>
                </a:gridCol>
                <a:gridCol w="6679245">
                  <a:extLst>
                    <a:ext uri="{9D8B030D-6E8A-4147-A177-3AD203B41FA5}">
                      <a16:colId xmlns:a16="http://schemas.microsoft.com/office/drawing/2014/main" val="1403260133"/>
                    </a:ext>
                  </a:extLst>
                </a:gridCol>
                <a:gridCol w="476408">
                  <a:extLst>
                    <a:ext uri="{9D8B030D-6E8A-4147-A177-3AD203B41FA5}">
                      <a16:colId xmlns:a16="http://schemas.microsoft.com/office/drawing/2014/main" val="3147633710"/>
                    </a:ext>
                  </a:extLst>
                </a:gridCol>
              </a:tblGrid>
              <a:tr h="8285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Column</a:t>
                      </a:r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endParaRPr 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column header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u="none" strike="noStrike" dirty="0" err="1">
                          <a:effectLst/>
                          <a:latin typeface="+mn-ea"/>
                          <a:ea typeface="+mn-ea"/>
                        </a:rPr>
                        <a:t>설정값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산출계산식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366496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Temp_N1</a:t>
                      </a:r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temporary values for M column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L2: 0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L3: =I3-I2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L4: =I4-I3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L1001: =I1001-I1000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3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140057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Temp_N2</a:t>
                      </a:r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　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temporary values for N column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M2: =IF(L2&gt;0,M1+L2,M1+L1)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M3: =IF(L3&gt;0,M2+L3,M2+L2)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M4: =IF(L4&gt;0,M3+L4,M3+L3)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M1001: =IF(L1001&gt;0,M1000+L1001,M1000+L1000)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677804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Turn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Turn values by calculation formula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N2: =M2/360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N3: =M3/360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N4: =M4/360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N1001: =M1001/360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256568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Radius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Radius values by calculation formula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O2: =H2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O3: </a:t>
                      </a: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=H3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O4: </a:t>
                      </a: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=H4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  <a:endParaRPr 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O1001: </a:t>
                      </a: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=H1001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578674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Temp_Q</a:t>
                      </a:r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　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temporary values for Q column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P2: =IFERROR(MATCH(N2-0.5,N:N,1),0) 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P3: =IFERROR(MATCH(N3-0.5,N:N,1),0)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P4: =IFERROR(MATCH(N4-0.5,N:N,1),0)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P1001: =IFERROR(MATCH(N1001-0.5,N:N,1),0)</a:t>
                      </a:r>
                      <a:endParaRPr 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026414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Diameter </a:t>
                      </a:r>
                    </a:p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(Perpendicular)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Diameter (Perpendicular) values by calculation formula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Q2: =IF(P2=0,0,O2+@INDEX(O:O,P2))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Q3: =IF(P3=0,0,O3+@INDEX(O:O,P3))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Q4: =IF(P4=0,0,O4+@INDEX(O:O,P4))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Q1001</a:t>
                      </a: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=IF(P1001=0,0,O1001+@INDEX(O:O,P1001))</a:t>
                      </a:r>
                      <a:endParaRPr 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573232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Temp_S</a:t>
                      </a:r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　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temporary values for S column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R2: =IF(Q2=0,MAX(Q:Q),Q2) 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R3: =IF(Q3=0,MAX(Q:Q),Q3) 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R4: =IF(Q4=0,MAX(Q:Q),Q4)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R1001: =IF(Q1001=0,MAX(Q:Q),Q1001)</a:t>
                      </a:r>
                      <a:endParaRPr 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399045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Diameter </a:t>
                      </a:r>
                    </a:p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(Vectorial)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Diameter (Vectorial) values by calculation formula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S2: =IF(P2=0,0,SQRT((B2-@INDEX(B:B,P2))^2+(C2-@INDEX(C:C,P2))^2+(D2-@INDEX(D:D,P2))^2))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S3: =IF(P3=0,0,SQRT((B3-@INDEX(B:B,P3))^2+(C3-@INDEX(C:C,P3))^2+(D3-@INDEX(D:D,P3))^2))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S4: =IF(P4=0,0,SQRT((B4-@INDEX(B:B,P4))^2+(C4-@INDEX(C:C,P4))^2+(D4-@INDEX(D:D,P4))^2))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S1001: =IF(P1001=0,0,SQRT((B1001-@INDEX(B:B,P1001))^2+(C1001-@INDEX(C:C,P1001))^2+(D1001-@INDEX(D:D,P1001))^2))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783585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Temp_U</a:t>
                      </a:r>
                      <a:endParaRPr lang="ko-KR" alt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temporary values for U column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T2: =IF(S2=0,MAX(S:S),S2) 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T3: =IF(S3=0,MAX(S:S),S3) 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T4: =IF(S4=0,MAX(S:S),S4) 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T1001: =IF(S1001=0,MAX(S:S),S1001)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971918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Height values by calculation formula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U2: =J2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U3: =J3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U4: =J4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U1001: =J1001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287945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Temp_W</a:t>
                      </a:r>
                      <a:endParaRPr lang="ko-KR" alt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temporary values for W column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V2: =IFERROR(MATCH(N2-1,N:N,1),0) 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V3: =IFERROR(MATCH(N3-1,N:N,1),0) 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V4: =IFERROR(MATCH(N4-1,N:N,1),0)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V1001: =IFERROR(MATCH(N1001-1,N:N,1),0)</a:t>
                      </a:r>
                      <a:endParaRPr 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803870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Pitch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Pitch values by calculation formula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W2: =IF(V2=0,0,U2-@INDEX(U:U,V2))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W3: =IF(V3=0,0,U3-@INDEX(U:U,V3))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W4: =IF(V4=0,0,U4-@INDEX(U:U,V4))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W1001: =IF(V1001=0,0,U1001-@INDEX(U:U,V1001))</a:t>
                      </a:r>
                      <a:endParaRPr 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642257"/>
                  </a:ext>
                </a:extLst>
              </a:tr>
              <a:tr h="41427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min_Pitch</a:t>
                      </a:r>
                      <a:endParaRPr 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min_Pitch</a:t>
                      </a:r>
                      <a:r>
                        <a:rPr 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by calculation formula</a:t>
                      </a: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X2: </a:t>
                      </a:r>
                      <a:r>
                        <a:rPr lang="pl-PL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=IF(W2=0,MAX(W:W),W2)</a:t>
                      </a:r>
                      <a:endParaRPr 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X3: </a:t>
                      </a:r>
                      <a:r>
                        <a:rPr lang="pl-PL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=IF(W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pl-PL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=0,MAX(W:W),W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pl-PL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X4: </a:t>
                      </a:r>
                      <a:r>
                        <a:rPr lang="pl-PL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=IF(W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pl-PL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=0,MAX(W:W),W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pl-PL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  <a:endParaRPr 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X1001: </a:t>
                      </a:r>
                      <a:r>
                        <a:rPr lang="pl-PL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=IF(W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1001</a:t>
                      </a:r>
                      <a:r>
                        <a:rPr lang="pl-PL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=0,MAX(W:W),W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1001</a:t>
                      </a:r>
                      <a:r>
                        <a:rPr lang="pl-PL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8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98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705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E4AF5-F821-56F1-CA4C-493662D5F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A6BEA3FB-1B71-5704-FFEE-04F7D2822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FE50-C9B8-49C0-82E5-6EA850373089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773F3E6-DC2E-BADA-AC55-D96234755AE1}"/>
              </a:ext>
            </a:extLst>
          </p:cNvPr>
          <p:cNvGrpSpPr/>
          <p:nvPr/>
        </p:nvGrpSpPr>
        <p:grpSpPr>
          <a:xfrm>
            <a:off x="391389" y="472380"/>
            <a:ext cx="11801630" cy="6684091"/>
            <a:chOff x="342899" y="236753"/>
            <a:chExt cx="11094558" cy="668409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133CEF-2603-59E8-2360-FE356799BD2C}"/>
                </a:ext>
              </a:extLst>
            </p:cNvPr>
            <p:cNvSpPr txBox="1"/>
            <p:nvPr/>
          </p:nvSpPr>
          <p:spPr>
            <a:xfrm>
              <a:off x="342900" y="919201"/>
              <a:ext cx="11094557" cy="60016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계산결과 엑셀파일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(TK1.xlsx) 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작성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산출시트명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: zero-1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산출시트헤더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: 1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행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산출시트데이터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: 2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행부터 시작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산출시트컬럼구성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:  A </a:t>
              </a: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데이터순번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, B x</a:t>
              </a: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좌표값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,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기준좌표의 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선정은 원통형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양단중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지름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(r*2)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값이 최소인 면을 기준으로 </a:t>
              </a:r>
              <a:r>
                <a: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좌표계기준의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시작점으로 선정</a:t>
              </a:r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좌표계기준점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선정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기준점에서 보정시작점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기준점에서 선데이터를 따라서 거의 혹은 완벽히 수평으로 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(180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도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되는 </a:t>
              </a:r>
              <a:r>
                <a:rPr lang="ko-KR" altLang="en-US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위치점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Turn: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Radius: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Diameter(Perpendicular):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Diameter(Vectorial):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Height,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Pitch,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en-US" altLang="ko-KR" sz="1600" dirty="0" err="1">
                  <a:latin typeface="맑은 고딕" panose="020B0503020000020004" pitchFamily="50" charset="-127"/>
                  <a:sym typeface="Wingdings" panose="05000000000000000000" pitchFamily="2" charset="2"/>
                </a:rPr>
                <a:t>min_Pitch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등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lvl="0">
                <a:defRPr/>
              </a:pP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    결과치를 산출</a:t>
              </a:r>
              <a:endParaRPr lang="en-US" altLang="ko-KR" sz="1600" dirty="0"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endPara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* 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외경</a:t>
              </a:r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Vector, 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피치 등의 값측정시</a:t>
              </a:r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해당 포인트</a:t>
              </a:r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점</a:t>
              </a:r>
              <a:r>
                <a:rPr lang="en-US" altLang="ko-KR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) 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데이터가 없는 경우 </a:t>
              </a:r>
              <a:r>
                <a:rPr lang="ko-KR" altLang="en-US" sz="1600" dirty="0" err="1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보간법</a:t>
              </a:r>
              <a:r>
                <a:rPr lang="ko-KR" altLang="en-US" sz="1600" dirty="0">
                  <a:solidFill>
                    <a:srgbClr val="0070C0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 적용하여 결과값 계산하여 산출</a:t>
              </a:r>
              <a:endParaRPr lang="en-US" altLang="ko-KR" sz="1600" dirty="0">
                <a:solidFill>
                  <a:srgbClr val="0070C0"/>
                </a:solidFill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endParaRPr lang="en-US" altLang="ko-KR" sz="1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</p:txBody>
        </p:sp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EF6F60A1-4262-127D-3489-C6F75F2D186D}"/>
                </a:ext>
              </a:extLst>
            </p:cNvPr>
            <p:cNvSpPr txBox="1">
              <a:spLocks/>
            </p:cNvSpPr>
            <p:nvPr/>
          </p:nvSpPr>
          <p:spPr>
            <a:xfrm>
              <a:off x="342899" y="236753"/>
              <a:ext cx="9144000" cy="56207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ko-KR" altLang="en-US" sz="2800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계산결과 </a:t>
              </a:r>
              <a:r>
                <a:rPr lang="ko-KR" altLang="en-US" sz="2800" b="1" dirty="0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산출상세</a:t>
              </a:r>
              <a:endParaRPr lang="ko-KR" altLang="en-US" sz="28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70686AC-EC2E-51A3-331B-3316BC434C53}"/>
              </a:ext>
            </a:extLst>
          </p:cNvPr>
          <p:cNvSpPr txBox="1"/>
          <p:nvPr/>
        </p:nvSpPr>
        <p:spPr>
          <a:xfrm>
            <a:off x="352857" y="2681972"/>
            <a:ext cx="11486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F:/SpringPitch/.venv/Scripts/python.exe f:/SpringPitch/detailed_center_analysis.py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97EEE4-B05E-B5A8-43A4-D1A1926AED3C}"/>
              </a:ext>
            </a:extLst>
          </p:cNvPr>
          <p:cNvSpPr txBox="1"/>
          <p:nvPr/>
        </p:nvSpPr>
        <p:spPr>
          <a:xfrm>
            <a:off x="352857" y="3084136"/>
            <a:ext cx="942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F:/SpringPitch/.venv/Scripts/python.exe f:/SpringPitch/plot_coordinate_frames.py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8737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2586</Words>
  <Application>Microsoft Office PowerPoint</Application>
  <PresentationFormat>와이드스크린</PresentationFormat>
  <Paragraphs>340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Wingdings</vt:lpstr>
      <vt:lpstr>Office 테마</vt:lpstr>
      <vt:lpstr>스프링 형상 측정 프로그램 개발 요구사양서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스프링 형상 측정 프로그램 피드백 (1차)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comshin</dc:creator>
  <cp:lastModifiedBy>bongju cheong</cp:lastModifiedBy>
  <cp:revision>217</cp:revision>
  <cp:lastPrinted>2025-10-17T06:26:22Z</cp:lastPrinted>
  <dcterms:created xsi:type="dcterms:W3CDTF">2025-10-17T05:04:38Z</dcterms:created>
  <dcterms:modified xsi:type="dcterms:W3CDTF">2025-11-12T07:18:28Z</dcterms:modified>
</cp:coreProperties>
</file>